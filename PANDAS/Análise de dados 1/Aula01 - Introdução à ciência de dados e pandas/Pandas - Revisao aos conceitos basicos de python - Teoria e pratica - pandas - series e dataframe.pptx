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27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10475"/>
            <a:ext cx="18288000" cy="92340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0559" y="733044"/>
            <a:ext cx="1765553" cy="14409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7340" y="909319"/>
            <a:ext cx="862774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" y="217036"/>
            <a:ext cx="18288000" cy="1006995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00724" y="1739265"/>
            <a:ext cx="5969761" cy="425081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55962" y="6458584"/>
            <a:ext cx="443483" cy="44348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70548" y="7340485"/>
            <a:ext cx="581431" cy="4937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910475"/>
            <a:ext cx="18288000" cy="9234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909319"/>
            <a:ext cx="862774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5980" y="2300478"/>
            <a:ext cx="12142470" cy="6071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13" Type="http://schemas.openxmlformats.org/officeDocument/2006/relationships/image" Target="../media/image20.png"/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12" Type="http://schemas.openxmlformats.org/officeDocument/2006/relationships/image" Target="../media/image19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jpg"/><Relationship Id="rId11" Type="http://schemas.openxmlformats.org/officeDocument/2006/relationships/image" Target="../media/image18.png"/><Relationship Id="rId5" Type="http://schemas.openxmlformats.org/officeDocument/2006/relationships/image" Target="../media/image12.jpg"/><Relationship Id="rId15" Type="http://schemas.openxmlformats.org/officeDocument/2006/relationships/image" Target="../media/image22.jpg"/><Relationship Id="rId10" Type="http://schemas.openxmlformats.org/officeDocument/2006/relationships/image" Target="../media/image17.png"/><Relationship Id="rId4" Type="http://schemas.openxmlformats.org/officeDocument/2006/relationships/image" Target="../media/image11.jp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1184" y="378732"/>
            <a:ext cx="7018782" cy="95295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752081" y="633857"/>
            <a:ext cx="6049519" cy="13773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12430"/>
              </a:lnSpc>
              <a:spcBef>
                <a:spcPts val="120"/>
              </a:spcBef>
            </a:pPr>
            <a:r>
              <a:rPr lang="en-US" sz="5000" b="1" dirty="0">
                <a:latin typeface="Calibri"/>
                <a:cs typeface="Calibri"/>
              </a:rPr>
              <a:t>Aula 08 - pandas</a:t>
            </a:r>
            <a:endParaRPr sz="5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33565" y="3161132"/>
            <a:ext cx="5494020" cy="3847207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5"/>
              </a:spcBef>
              <a:tabLst>
                <a:tab pos="425450" algn="l"/>
              </a:tabLst>
            </a:pPr>
            <a:r>
              <a:rPr sz="2900" b="1" dirty="0" err="1">
                <a:solidFill>
                  <a:schemeClr val="bg1"/>
                </a:solidFill>
                <a:latin typeface="Arial MT"/>
                <a:cs typeface="Arial MT"/>
              </a:rPr>
              <a:t>Introdução</a:t>
            </a:r>
            <a:r>
              <a:rPr sz="2900" b="1" spc="-8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b="1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2900" b="1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b="1" dirty="0" err="1">
                <a:solidFill>
                  <a:schemeClr val="bg1"/>
                </a:solidFill>
                <a:latin typeface="Arial MT"/>
                <a:cs typeface="Arial MT"/>
              </a:rPr>
              <a:t>biblioteca</a:t>
            </a:r>
            <a:r>
              <a:rPr sz="2900" b="1" spc="-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900" b="1" spc="-10" dirty="0">
                <a:solidFill>
                  <a:schemeClr val="bg1"/>
                </a:solidFill>
                <a:latin typeface="Arial MT"/>
                <a:cs typeface="Arial MT"/>
              </a:rPr>
              <a:t>Pandas</a:t>
            </a:r>
            <a:endParaRPr lang="en-US" sz="2900" b="1" spc="-1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 algn="ctr">
              <a:lnSpc>
                <a:spcPct val="100000"/>
              </a:lnSpc>
              <a:spcBef>
                <a:spcPts val="1525"/>
              </a:spcBef>
              <a:tabLst>
                <a:tab pos="425450" algn="l"/>
              </a:tabLst>
            </a:pPr>
            <a:r>
              <a:rPr lang="en-US" sz="2900" b="1" spc="-10" dirty="0" err="1">
                <a:solidFill>
                  <a:schemeClr val="bg1"/>
                </a:solidFill>
                <a:latin typeface="Arial MT"/>
                <a:cs typeface="Arial MT"/>
              </a:rPr>
              <a:t>Continuação</a:t>
            </a:r>
            <a:endParaRPr lang="en-US" sz="2900" b="1" spc="-1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 algn="ctr">
              <a:lnSpc>
                <a:spcPct val="100000"/>
              </a:lnSpc>
              <a:spcBef>
                <a:spcPts val="1525"/>
              </a:spcBef>
              <a:tabLst>
                <a:tab pos="425450" algn="l"/>
              </a:tabLst>
            </a:pPr>
            <a:r>
              <a:rPr lang="en-US" sz="2900" b="1" spc="-10" dirty="0">
                <a:solidFill>
                  <a:schemeClr val="bg1"/>
                </a:solidFill>
                <a:latin typeface="Arial MT"/>
                <a:cs typeface="Arial MT"/>
              </a:rPr>
              <a:t>series</a:t>
            </a:r>
          </a:p>
          <a:p>
            <a:pPr marL="12700" algn="ctr">
              <a:lnSpc>
                <a:spcPct val="100000"/>
              </a:lnSpc>
              <a:spcBef>
                <a:spcPts val="1525"/>
              </a:spcBef>
              <a:tabLst>
                <a:tab pos="425450" algn="l"/>
              </a:tabLst>
            </a:pPr>
            <a:r>
              <a:rPr lang="en-US" sz="2900" b="1" dirty="0" err="1">
                <a:solidFill>
                  <a:schemeClr val="bg1"/>
                </a:solidFill>
                <a:latin typeface="Arial MT"/>
                <a:cs typeface="Arial MT"/>
              </a:rPr>
              <a:t>DataFrame</a:t>
            </a:r>
            <a:endParaRPr lang="en-US" sz="2900" b="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 algn="ctr">
              <a:lnSpc>
                <a:spcPct val="100000"/>
              </a:lnSpc>
              <a:spcBef>
                <a:spcPts val="1525"/>
              </a:spcBef>
              <a:tabLst>
                <a:tab pos="425450" algn="l"/>
              </a:tabLst>
            </a:pPr>
            <a:r>
              <a:rPr lang="en-US" sz="2900" b="1" dirty="0" err="1">
                <a:solidFill>
                  <a:schemeClr val="bg1"/>
                </a:solidFill>
                <a:latin typeface="Arial MT"/>
                <a:cs typeface="Arial MT"/>
              </a:rPr>
              <a:t>Interações</a:t>
            </a:r>
            <a:r>
              <a:rPr lang="en-US" sz="2900" b="1" dirty="0">
                <a:solidFill>
                  <a:schemeClr val="bg1"/>
                </a:solidFill>
                <a:latin typeface="Arial MT"/>
                <a:cs typeface="Arial MT"/>
              </a:rPr>
              <a:t>: dados </a:t>
            </a:r>
            <a:r>
              <a:rPr lang="en-US" sz="2900" b="1" dirty="0" err="1">
                <a:solidFill>
                  <a:schemeClr val="bg1"/>
                </a:solidFill>
                <a:latin typeface="Arial MT"/>
                <a:cs typeface="Arial MT"/>
              </a:rPr>
              <a:t>internos</a:t>
            </a:r>
            <a:endParaRPr lang="en-US" sz="2900" b="1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 algn="ctr">
              <a:lnSpc>
                <a:spcPct val="100000"/>
              </a:lnSpc>
              <a:spcBef>
                <a:spcPts val="1525"/>
              </a:spcBef>
              <a:tabLst>
                <a:tab pos="425450" algn="l"/>
              </a:tabLst>
            </a:pPr>
            <a:r>
              <a:rPr lang="en-US" sz="2900" b="1" dirty="0" err="1">
                <a:solidFill>
                  <a:schemeClr val="bg1"/>
                </a:solidFill>
                <a:latin typeface="Arial MT"/>
                <a:cs typeface="Arial MT"/>
              </a:rPr>
              <a:t>Leitura</a:t>
            </a:r>
            <a:r>
              <a:rPr lang="en-US" sz="2900" b="1" dirty="0">
                <a:solidFill>
                  <a:schemeClr val="bg1"/>
                </a:solidFill>
                <a:latin typeface="Arial MT"/>
                <a:cs typeface="Arial MT"/>
              </a:rPr>
              <a:t> de </a:t>
            </a:r>
            <a:r>
              <a:rPr lang="en-US" sz="2900" b="1" dirty="0" err="1">
                <a:solidFill>
                  <a:schemeClr val="bg1"/>
                </a:solidFill>
                <a:latin typeface="Arial MT"/>
                <a:cs typeface="Arial MT"/>
              </a:rPr>
              <a:t>arquivo</a:t>
            </a:r>
            <a:r>
              <a:rPr lang="en-US" sz="2900" b="1" dirty="0">
                <a:solidFill>
                  <a:schemeClr val="bg1"/>
                </a:solidFill>
                <a:latin typeface="Arial MT"/>
                <a:cs typeface="Arial MT"/>
              </a:rPr>
              <a:t> csv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5ABC4B-0D24-CFF7-873D-238C03F54DFC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1640D3-566F-46AC-351C-16D4D36FE902}"/>
              </a:ext>
            </a:extLst>
          </p:cNvPr>
          <p:cNvSpPr txBox="1"/>
          <p:nvPr/>
        </p:nvSpPr>
        <p:spPr>
          <a:xfrm>
            <a:off x="533400" y="633857"/>
            <a:ext cx="4191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LOGIACA DE PROGRAMAÇÃO</a:t>
            </a:r>
          </a:p>
          <a:p>
            <a:pPr algn="ctr"/>
            <a:r>
              <a:rPr lang="en-US" sz="3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pPr algn="ctr"/>
            <a:endParaRPr lang="en-US" sz="3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3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ED7DCB-5EB6-4ED8-3EAC-16C9EF5BBBDA}"/>
              </a:ext>
            </a:extLst>
          </p:cNvPr>
          <p:cNvSpPr txBox="1"/>
          <p:nvPr/>
        </p:nvSpPr>
        <p:spPr>
          <a:xfrm>
            <a:off x="13336675" y="810828"/>
            <a:ext cx="4191000" cy="3642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MANIPULAÇÃO DE DADOS UTILIZANDO A BIBLIOTECA PANDAS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7B167E-F392-2F26-DB9E-BEF1466B865E}"/>
              </a:ext>
            </a:extLst>
          </p:cNvPr>
          <p:cNvSpPr txBox="1"/>
          <p:nvPr/>
        </p:nvSpPr>
        <p:spPr>
          <a:xfrm>
            <a:off x="69031" y="8892602"/>
            <a:ext cx="54905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Juvenaldo </a:t>
            </a:r>
            <a:r>
              <a:rPr lang="en-US" sz="3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Flotentino</a:t>
            </a:r>
            <a:endParaRPr lang="en-US" sz="3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 de </a:t>
            </a:r>
            <a:r>
              <a:rPr lang="en-US" sz="3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setembro</a:t>
            </a:r>
            <a:r>
              <a:rPr lang="en-US" sz="3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908" y="890396"/>
            <a:ext cx="31356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10" dirty="0">
                <a:latin typeface="Calibri"/>
                <a:cs typeface="Calibri"/>
              </a:rPr>
              <a:t>Utilização</a:t>
            </a:r>
            <a:endParaRPr sz="6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330" y="2118995"/>
            <a:ext cx="5207000" cy="1917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1501" y="4036695"/>
            <a:ext cx="4000119" cy="2269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6128" y="6807072"/>
            <a:ext cx="2881883" cy="28458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5980" y="7118210"/>
            <a:ext cx="3328416" cy="26115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4822" y="4830826"/>
            <a:ext cx="2807970" cy="20144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2541" y="7542288"/>
            <a:ext cx="2070100" cy="20701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65440" y="2015617"/>
            <a:ext cx="4445000" cy="182879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413189" y="1209617"/>
            <a:ext cx="14485619" cy="8113395"/>
            <a:chOff x="3549269" y="1578355"/>
            <a:chExt cx="14485619" cy="8113395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274421" y="1578355"/>
              <a:ext cx="4507230" cy="321843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74858" y="4601717"/>
              <a:ext cx="2217674" cy="22176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335762" y="4313554"/>
              <a:ext cx="4699000" cy="12772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021183" y="6474459"/>
              <a:ext cx="4659376" cy="217182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729463" y="6193409"/>
              <a:ext cx="5190616" cy="15228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49269" y="4188332"/>
              <a:ext cx="2675128" cy="265696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241407" y="7517701"/>
              <a:ext cx="2612517" cy="2173859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A720A2D-ADD5-6FC0-9659-A3D13FACEBFF}"/>
              </a:ext>
            </a:extLst>
          </p:cNvPr>
          <p:cNvSpPr txBox="1"/>
          <p:nvPr/>
        </p:nvSpPr>
        <p:spPr>
          <a:xfrm>
            <a:off x="15163800" y="8267700"/>
            <a:ext cx="3124200" cy="17906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908" y="890396"/>
            <a:ext cx="64293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latin typeface="Calibri"/>
                <a:cs typeface="Calibri"/>
              </a:rPr>
              <a:t>Geração</a:t>
            </a:r>
            <a:r>
              <a:rPr sz="6000" b="1" spc="-105" dirty="0">
                <a:latin typeface="Calibri"/>
                <a:cs typeface="Calibri"/>
              </a:rPr>
              <a:t> </a:t>
            </a:r>
            <a:r>
              <a:rPr sz="6000" b="1" dirty="0">
                <a:latin typeface="Calibri"/>
                <a:cs typeface="Calibri"/>
              </a:rPr>
              <a:t>de</a:t>
            </a:r>
            <a:r>
              <a:rPr sz="6000" b="1" spc="-95" dirty="0">
                <a:latin typeface="Calibri"/>
                <a:cs typeface="Calibri"/>
              </a:rPr>
              <a:t> </a:t>
            </a:r>
            <a:r>
              <a:rPr sz="6000" b="1" spc="-10" dirty="0">
                <a:latin typeface="Calibri"/>
                <a:cs typeface="Calibri"/>
              </a:rPr>
              <a:t>imagens</a:t>
            </a:r>
            <a:endParaRPr sz="6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438" y="2126488"/>
            <a:ext cx="7112508" cy="47387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43772" y="2126488"/>
            <a:ext cx="8814562" cy="4738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CAE157-179A-6E48-9462-8B4025B54131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908" y="890396"/>
            <a:ext cx="64293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latin typeface="Calibri"/>
                <a:cs typeface="Calibri"/>
              </a:rPr>
              <a:t>Geração</a:t>
            </a:r>
            <a:r>
              <a:rPr sz="6000" b="1" spc="-105" dirty="0">
                <a:latin typeface="Calibri"/>
                <a:cs typeface="Calibri"/>
              </a:rPr>
              <a:t> </a:t>
            </a:r>
            <a:r>
              <a:rPr sz="6000" b="1" dirty="0">
                <a:latin typeface="Calibri"/>
                <a:cs typeface="Calibri"/>
              </a:rPr>
              <a:t>de</a:t>
            </a:r>
            <a:r>
              <a:rPr sz="6000" b="1" spc="-95" dirty="0">
                <a:latin typeface="Calibri"/>
                <a:cs typeface="Calibri"/>
              </a:rPr>
              <a:t> </a:t>
            </a:r>
            <a:r>
              <a:rPr sz="6000" b="1" spc="-10" dirty="0">
                <a:latin typeface="Calibri"/>
                <a:cs typeface="Calibri"/>
              </a:rPr>
              <a:t>imagens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86998" y="5698603"/>
            <a:ext cx="63906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https://thispersondoesnotexist.com/</a:t>
            </a:r>
            <a:endParaRPr sz="32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362" y="1926132"/>
            <a:ext cx="10645521" cy="80586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69BA7A-BEB9-7608-1381-227ED52F59B8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908" y="890396"/>
            <a:ext cx="54622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latin typeface="Calibri"/>
                <a:cs typeface="Calibri"/>
              </a:rPr>
              <a:t>Geração</a:t>
            </a:r>
            <a:r>
              <a:rPr sz="6000" b="1" spc="-105" dirty="0">
                <a:latin typeface="Calibri"/>
                <a:cs typeface="Calibri"/>
              </a:rPr>
              <a:t> </a:t>
            </a:r>
            <a:r>
              <a:rPr sz="6000" b="1" dirty="0">
                <a:latin typeface="Calibri"/>
                <a:cs typeface="Calibri"/>
              </a:rPr>
              <a:t>de</a:t>
            </a:r>
            <a:r>
              <a:rPr sz="6000" b="1" spc="-90" dirty="0">
                <a:latin typeface="Calibri"/>
                <a:cs typeface="Calibri"/>
              </a:rPr>
              <a:t> </a:t>
            </a:r>
            <a:r>
              <a:rPr sz="6000" b="1" spc="-10" dirty="0">
                <a:latin typeface="Calibri"/>
                <a:cs typeface="Calibri"/>
              </a:rPr>
              <a:t>texto</a:t>
            </a:r>
            <a:endParaRPr sz="6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455" y="2265933"/>
            <a:ext cx="6216396" cy="37816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27797" y="2266060"/>
            <a:ext cx="6068567" cy="20274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27797" y="5164835"/>
            <a:ext cx="5684900" cy="29704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D94967-2BBE-6C5F-9E54-D2C27ED95710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527" y="650748"/>
            <a:ext cx="1962150" cy="160096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7539" y="847165"/>
            <a:ext cx="1133284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1.</a:t>
            </a:r>
            <a:r>
              <a:rPr sz="6000" spc="-60" dirty="0"/>
              <a:t> </a:t>
            </a:r>
            <a:r>
              <a:rPr sz="6000" dirty="0"/>
              <a:t>Introdução</a:t>
            </a:r>
            <a:r>
              <a:rPr sz="6000" spc="-60" dirty="0"/>
              <a:t> </a:t>
            </a:r>
            <a:r>
              <a:rPr sz="6000" dirty="0"/>
              <a:t>à</a:t>
            </a:r>
            <a:r>
              <a:rPr sz="6000" spc="-90" dirty="0"/>
              <a:t> </a:t>
            </a:r>
            <a:r>
              <a:rPr sz="6000" dirty="0"/>
              <a:t>Ciência</a:t>
            </a:r>
            <a:r>
              <a:rPr sz="6000" spc="-60" dirty="0"/>
              <a:t> </a:t>
            </a:r>
            <a:r>
              <a:rPr sz="6000" dirty="0"/>
              <a:t>de</a:t>
            </a:r>
            <a:r>
              <a:rPr sz="6000" spc="-60" dirty="0"/>
              <a:t> </a:t>
            </a:r>
            <a:r>
              <a:rPr sz="6000" spc="-10" dirty="0"/>
              <a:t>Dados</a:t>
            </a:r>
            <a:endParaRPr sz="6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6047" y="4829555"/>
            <a:ext cx="1177290" cy="9608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09191" y="2199208"/>
            <a:ext cx="13304519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76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Ciência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Dados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área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une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matemática,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estatística,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programação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conhecimento</a:t>
            </a:r>
            <a:r>
              <a:rPr sz="3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domínio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coletar,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organizar,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analisar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extrair valor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dados.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3600">
              <a:latin typeface="Arial MT"/>
              <a:cs typeface="Arial MT"/>
            </a:endParaRPr>
          </a:p>
          <a:p>
            <a:pPr marL="12700" marR="5080" indent="75438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 como pegar</a:t>
            </a:r>
            <a:r>
              <a:rPr sz="3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monte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dados soltos e</a:t>
            </a:r>
            <a:r>
              <a:rPr sz="3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transformá-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los 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em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respostas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úteis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decisões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reais.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B1595-BB76-45BC-0904-D8D6F2AC559C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527" y="647700"/>
            <a:ext cx="1962150" cy="160096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7851" y="844422"/>
            <a:ext cx="117551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63795" algn="l"/>
                <a:tab pos="6022975" algn="l"/>
                <a:tab pos="8606155" algn="l"/>
                <a:tab pos="9665335" algn="l"/>
              </a:tabLst>
            </a:pPr>
            <a:r>
              <a:rPr sz="6000" dirty="0"/>
              <a:t>2.</a:t>
            </a:r>
            <a:r>
              <a:rPr sz="6000" spc="-10" dirty="0"/>
              <a:t> </a:t>
            </a:r>
            <a:r>
              <a:rPr sz="6000" dirty="0"/>
              <a:t>O</a:t>
            </a:r>
            <a:r>
              <a:rPr sz="6000" spc="-25" dirty="0"/>
              <a:t> </a:t>
            </a:r>
            <a:r>
              <a:rPr sz="6000" spc="-10" dirty="0"/>
              <a:t>processo</a:t>
            </a:r>
            <a:r>
              <a:rPr sz="6000" dirty="0"/>
              <a:t>	</a:t>
            </a:r>
            <a:r>
              <a:rPr sz="6000" spc="-25" dirty="0"/>
              <a:t>de</a:t>
            </a:r>
            <a:r>
              <a:rPr sz="6000" dirty="0"/>
              <a:t>	</a:t>
            </a:r>
            <a:r>
              <a:rPr sz="6000" spc="-10" dirty="0"/>
              <a:t>ciência</a:t>
            </a:r>
            <a:r>
              <a:rPr sz="6000" dirty="0"/>
              <a:t>	</a:t>
            </a:r>
            <a:r>
              <a:rPr sz="6000" spc="-25" dirty="0"/>
              <a:t>de</a:t>
            </a:r>
            <a:r>
              <a:rPr sz="6000" dirty="0"/>
              <a:t>	</a:t>
            </a:r>
            <a:r>
              <a:rPr sz="6000" spc="-10" dirty="0"/>
              <a:t>dados</a:t>
            </a:r>
            <a:endParaRPr sz="6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2569" y="2724530"/>
            <a:ext cx="9318625" cy="53576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56D9C0-E42C-C3D2-58E7-963D1BF3014D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527" y="647700"/>
            <a:ext cx="1962150" cy="160096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7851" y="844422"/>
            <a:ext cx="118427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20515" algn="l"/>
                <a:tab pos="8949055" algn="l"/>
                <a:tab pos="10177780" algn="l"/>
                <a:tab pos="10813415" algn="l"/>
              </a:tabLst>
            </a:pPr>
            <a:r>
              <a:rPr sz="6000" dirty="0"/>
              <a:t>3.</a:t>
            </a:r>
            <a:r>
              <a:rPr sz="6000" spc="-10" dirty="0"/>
              <a:t> Conexão</a:t>
            </a:r>
            <a:r>
              <a:rPr sz="6000" dirty="0"/>
              <a:t>	com</a:t>
            </a:r>
            <a:r>
              <a:rPr sz="6000" spc="-135" dirty="0"/>
              <a:t> </a:t>
            </a:r>
            <a:r>
              <a:rPr sz="6000" dirty="0"/>
              <a:t>áreas</a:t>
            </a:r>
            <a:r>
              <a:rPr sz="6000" spc="-130" dirty="0"/>
              <a:t> </a:t>
            </a:r>
            <a:r>
              <a:rPr sz="6000" spc="-25" dirty="0"/>
              <a:t>do</a:t>
            </a:r>
            <a:r>
              <a:rPr sz="6000" dirty="0"/>
              <a:t>	</a:t>
            </a:r>
            <a:r>
              <a:rPr sz="6000" spc="-25" dirty="0"/>
              <a:t>dia</a:t>
            </a:r>
            <a:r>
              <a:rPr sz="6000" dirty="0"/>
              <a:t>	</a:t>
            </a:r>
            <a:r>
              <a:rPr sz="6000" spc="-50" dirty="0"/>
              <a:t>a</a:t>
            </a:r>
            <a:r>
              <a:rPr sz="6000" dirty="0"/>
              <a:t>	</a:t>
            </a:r>
            <a:r>
              <a:rPr sz="6000" spc="-25" dirty="0"/>
              <a:t>dia</a:t>
            </a:r>
            <a:endParaRPr sz="6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705" y="1980944"/>
            <a:ext cx="14552041" cy="65164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D8164C-7F52-0EFD-4164-434F9A3CA286}"/>
              </a:ext>
            </a:extLst>
          </p:cNvPr>
          <p:cNvSpPr txBox="1"/>
          <p:nvPr/>
        </p:nvSpPr>
        <p:spPr>
          <a:xfrm>
            <a:off x="15087600" y="7277100"/>
            <a:ext cx="31242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527" y="647700"/>
            <a:ext cx="1962150" cy="160096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7851" y="844422"/>
            <a:ext cx="100190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04795" algn="l"/>
                <a:tab pos="3863975" algn="l"/>
                <a:tab pos="6870065" algn="l"/>
                <a:tab pos="7929245" algn="l"/>
              </a:tabLst>
            </a:pPr>
            <a:r>
              <a:rPr sz="6000" dirty="0"/>
              <a:t>4. </a:t>
            </a:r>
            <a:r>
              <a:rPr sz="6000" spc="-10" dirty="0"/>
              <a:t>Perfil</a:t>
            </a:r>
            <a:r>
              <a:rPr sz="6000" dirty="0"/>
              <a:t>	</a:t>
            </a:r>
            <a:r>
              <a:rPr sz="6000" spc="-25" dirty="0"/>
              <a:t>do</a:t>
            </a:r>
            <a:r>
              <a:rPr sz="6000" dirty="0"/>
              <a:t>	</a:t>
            </a:r>
            <a:r>
              <a:rPr sz="6000" spc="-10" dirty="0"/>
              <a:t>cientista</a:t>
            </a:r>
            <a:r>
              <a:rPr sz="6000" dirty="0"/>
              <a:t>	</a:t>
            </a:r>
            <a:r>
              <a:rPr sz="6000" spc="-25" dirty="0"/>
              <a:t>de</a:t>
            </a:r>
            <a:r>
              <a:rPr sz="6000" dirty="0"/>
              <a:t>	</a:t>
            </a:r>
            <a:r>
              <a:rPr sz="6000" spc="-10" dirty="0"/>
              <a:t>dados</a:t>
            </a:r>
            <a:endParaRPr sz="6000"/>
          </a:p>
        </p:txBody>
      </p:sp>
      <p:sp>
        <p:nvSpPr>
          <p:cNvPr id="7" name="object 7"/>
          <p:cNvSpPr txBox="1"/>
          <p:nvPr/>
        </p:nvSpPr>
        <p:spPr>
          <a:xfrm>
            <a:off x="838200" y="1927946"/>
            <a:ext cx="13589635" cy="770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principais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habilidades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cruzam: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3600" dirty="0">
              <a:latin typeface="Arial MT"/>
              <a:cs typeface="Arial MT"/>
            </a:endParaRPr>
          </a:p>
          <a:p>
            <a:pPr marL="76708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Estatística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matemática: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saber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interpretar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dados.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 dirty="0">
              <a:latin typeface="Arial MT"/>
              <a:cs typeface="Arial MT"/>
            </a:endParaRPr>
          </a:p>
          <a:p>
            <a:pPr marL="12700" marR="38100" indent="75438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Programação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(Python):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saber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transformar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dados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em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análises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Arial MT"/>
                <a:cs typeface="Arial MT"/>
              </a:rPr>
              <a:t>e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modelos.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 dirty="0">
              <a:latin typeface="Arial MT"/>
              <a:cs typeface="Arial MT"/>
            </a:endParaRPr>
          </a:p>
          <a:p>
            <a:pPr marL="12700" marR="1106170" indent="75438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Conhecimento</a:t>
            </a:r>
            <a:r>
              <a:rPr sz="3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domínio: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saber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perguntar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como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interpretar.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36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Ninguém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nasce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sabendo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tudo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isso.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jornada.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hoje,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gente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começa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ferramenta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central: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Pandas,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ler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explorar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dados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forma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estruturada.</a:t>
            </a:r>
            <a:endParaRPr sz="3600" dirty="0">
              <a:latin typeface="Arial MT"/>
              <a:cs typeface="Arial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699AB9-DC7C-49AF-6CB5-A5BEECEC00C3}"/>
              </a:ext>
            </a:extLst>
          </p:cNvPr>
          <p:cNvSpPr txBox="1"/>
          <p:nvPr/>
        </p:nvSpPr>
        <p:spPr>
          <a:xfrm>
            <a:off x="15087600" y="7277100"/>
            <a:ext cx="31242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10183"/>
            <a:ext cx="1824989" cy="160096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64894" y="983995"/>
            <a:ext cx="82581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2870" algn="l"/>
                <a:tab pos="5346700" algn="l"/>
                <a:tab pos="5918835" algn="l"/>
              </a:tabLst>
            </a:pPr>
            <a:r>
              <a:rPr spc="-10" dirty="0"/>
              <a:t>Ligando</a:t>
            </a:r>
            <a:r>
              <a:rPr dirty="0"/>
              <a:t>	a</a:t>
            </a:r>
            <a:r>
              <a:rPr spc="-20" dirty="0"/>
              <a:t> </a:t>
            </a:r>
            <a:r>
              <a:rPr spc="-10" dirty="0"/>
              <a:t>Teoria</a:t>
            </a:r>
            <a:r>
              <a:rPr dirty="0"/>
              <a:t>	</a:t>
            </a:r>
            <a:r>
              <a:rPr spc="-50" dirty="0"/>
              <a:t>à</a:t>
            </a:r>
            <a:r>
              <a:rPr dirty="0"/>
              <a:t>	</a:t>
            </a:r>
            <a:r>
              <a:rPr spc="-10" dirty="0"/>
              <a:t>Prática: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7840" y="1914855"/>
            <a:ext cx="14340205" cy="249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Arial MT"/>
                <a:cs typeface="Arial MT"/>
              </a:rPr>
              <a:t>Python</a:t>
            </a:r>
            <a:r>
              <a:rPr sz="5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4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5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4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5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400" dirty="0">
                <a:solidFill>
                  <a:srgbClr val="FFFFFF"/>
                </a:solidFill>
                <a:latin typeface="Arial MT"/>
                <a:cs typeface="Arial MT"/>
              </a:rPr>
              <a:t>Bibliotecas</a:t>
            </a:r>
            <a:r>
              <a:rPr sz="5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5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400" dirty="0">
                <a:solidFill>
                  <a:srgbClr val="FFFFFF"/>
                </a:solidFill>
                <a:latin typeface="Arial MT"/>
                <a:cs typeface="Arial MT"/>
              </a:rPr>
              <a:t>Ciência</a:t>
            </a:r>
            <a:r>
              <a:rPr sz="5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5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Arial MT"/>
                <a:cs typeface="Arial MT"/>
              </a:rPr>
              <a:t>Dados</a:t>
            </a:r>
            <a:endParaRPr sz="5400">
              <a:latin typeface="Arial MT"/>
              <a:cs typeface="Arial MT"/>
            </a:endParaRPr>
          </a:p>
          <a:p>
            <a:pPr marL="370840" marR="5080">
              <a:lnSpc>
                <a:spcPct val="100000"/>
              </a:lnSpc>
              <a:spcBef>
                <a:spcPts val="4355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Agora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entendemos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Ciência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Dados,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vamos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ver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como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ela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feita na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prática.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principal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ambiente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usamos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Python.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AF2F1-AC7A-7451-F0FC-F595503ECB49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10183"/>
            <a:ext cx="1824989" cy="160096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64894" y="907795"/>
            <a:ext cx="85820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93060" algn="l"/>
              </a:tabLst>
            </a:pPr>
            <a:r>
              <a:rPr sz="6000" dirty="0"/>
              <a:t>Por</a:t>
            </a:r>
            <a:r>
              <a:rPr sz="6000" spc="-110" dirty="0"/>
              <a:t> </a:t>
            </a:r>
            <a:r>
              <a:rPr sz="6000" spc="-25" dirty="0"/>
              <a:t>que</a:t>
            </a:r>
            <a:r>
              <a:rPr sz="6000" dirty="0"/>
              <a:t>	usamos</a:t>
            </a:r>
            <a:r>
              <a:rPr sz="6000" spc="-215" dirty="0"/>
              <a:t> </a:t>
            </a:r>
            <a:r>
              <a:rPr sz="6000" spc="-10" dirty="0"/>
              <a:t>Python?</a:t>
            </a:r>
            <a:endParaRPr sz="6000"/>
          </a:p>
        </p:txBody>
      </p:sp>
      <p:sp>
        <p:nvSpPr>
          <p:cNvPr id="4" name="object 4"/>
          <p:cNvSpPr txBox="1"/>
          <p:nvPr/>
        </p:nvSpPr>
        <p:spPr>
          <a:xfrm>
            <a:off x="855980" y="3290773"/>
            <a:ext cx="13479780" cy="496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linguagem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simples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legível</a:t>
            </a:r>
            <a:r>
              <a:rPr sz="3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fácil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aprender.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Tem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enorme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comunidade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ativa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bibliotecas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prontas.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extremamente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versátil: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serve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tanto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automação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quanto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para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análise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avançada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inteligência</a:t>
            </a:r>
            <a:r>
              <a:rPr sz="3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artificial.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>
              <a:latin typeface="Arial MT"/>
              <a:cs typeface="Arial MT"/>
            </a:endParaRPr>
          </a:p>
          <a:p>
            <a:pPr marL="12700" marR="151003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segredo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Python em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Ciência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Dados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não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está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só</a:t>
            </a:r>
            <a:r>
              <a:rPr sz="3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na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linguagem.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Está nas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bibliotecas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ele</a:t>
            </a:r>
            <a:r>
              <a:rPr sz="3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oferece.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252E50-CFD9-9BB8-5C0E-75553ABAB3ED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10183"/>
            <a:ext cx="1824989" cy="160096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64894" y="907795"/>
            <a:ext cx="159962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10775" algn="l"/>
                <a:tab pos="13780135" algn="l"/>
              </a:tabLst>
            </a:pPr>
            <a:r>
              <a:rPr sz="6000" dirty="0"/>
              <a:t>Bibliotecas</a:t>
            </a:r>
            <a:r>
              <a:rPr sz="6000" spc="-145" dirty="0"/>
              <a:t> </a:t>
            </a:r>
            <a:r>
              <a:rPr sz="6000" dirty="0"/>
              <a:t>Fundamentais</a:t>
            </a:r>
            <a:r>
              <a:rPr sz="6000" spc="-140" dirty="0"/>
              <a:t> </a:t>
            </a:r>
            <a:r>
              <a:rPr sz="6000" spc="-25" dirty="0"/>
              <a:t>da</a:t>
            </a:r>
            <a:r>
              <a:rPr sz="6000" dirty="0"/>
              <a:t>	Análise</a:t>
            </a:r>
            <a:r>
              <a:rPr sz="6000" spc="-190" dirty="0"/>
              <a:t> </a:t>
            </a:r>
            <a:r>
              <a:rPr sz="6000" spc="-25" dirty="0"/>
              <a:t>de</a:t>
            </a:r>
            <a:r>
              <a:rPr sz="6000" dirty="0"/>
              <a:t>	</a:t>
            </a:r>
            <a:r>
              <a:rPr sz="6000" spc="-10" dirty="0"/>
              <a:t>Dados</a:t>
            </a:r>
            <a:endParaRPr sz="6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1852" y="2587751"/>
            <a:ext cx="1177290" cy="9608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1852" y="5879591"/>
            <a:ext cx="1177290" cy="96088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55980" y="2701290"/>
            <a:ext cx="13616940" cy="606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01189" indent="126174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274445" algn="l"/>
              </a:tabLst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Pandas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manipulação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dados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tabulares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Usamos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ler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arquivos,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organizar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colunas,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fazer</a:t>
            </a:r>
            <a:r>
              <a:rPr sz="3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filtros,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agrupamentos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estatísticas.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Clr>
                <a:srgbClr val="FFFFFF"/>
              </a:buClr>
              <a:buFont typeface="Arial MT"/>
              <a:buAutoNum type="arabicPeriod"/>
            </a:pPr>
            <a:endParaRPr sz="3600">
              <a:latin typeface="Arial MT"/>
              <a:cs typeface="Arial MT"/>
            </a:endParaRPr>
          </a:p>
          <a:p>
            <a:pPr marL="139065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como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"Excel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turbinado"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Python.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>
              <a:latin typeface="Arial MT"/>
              <a:cs typeface="Arial MT"/>
            </a:endParaRPr>
          </a:p>
          <a:p>
            <a:pPr marL="12700" marR="877569" indent="1261745">
              <a:lnSpc>
                <a:spcPct val="100000"/>
              </a:lnSpc>
              <a:buAutoNum type="arabicPeriod" startAt="2"/>
              <a:tabLst>
                <a:tab pos="1274445" algn="l"/>
              </a:tabLst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NumPy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cálculos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vetores,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matrizes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funções matemáticas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36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Ele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núcleo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matemático.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Trabalha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arrays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oferece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funções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estatísticas,</a:t>
            </a:r>
            <a:r>
              <a:rPr sz="3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lógicas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 de</a:t>
            </a:r>
            <a:r>
              <a:rPr sz="3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álgebra.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0D876D-9639-BAC2-1ADD-2A95BB83746C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10183"/>
            <a:ext cx="1824989" cy="160096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64894" y="907795"/>
            <a:ext cx="159962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10775" algn="l"/>
                <a:tab pos="13780135" algn="l"/>
              </a:tabLst>
            </a:pPr>
            <a:r>
              <a:rPr sz="6000" dirty="0"/>
              <a:t>Bibliotecas</a:t>
            </a:r>
            <a:r>
              <a:rPr sz="6000" spc="-145" dirty="0"/>
              <a:t> </a:t>
            </a:r>
            <a:r>
              <a:rPr sz="6000" dirty="0"/>
              <a:t>Fundamentais</a:t>
            </a:r>
            <a:r>
              <a:rPr sz="6000" spc="-140" dirty="0"/>
              <a:t> </a:t>
            </a:r>
            <a:r>
              <a:rPr sz="6000" spc="-25" dirty="0"/>
              <a:t>da</a:t>
            </a:r>
            <a:r>
              <a:rPr sz="6000" dirty="0"/>
              <a:t>	Análise</a:t>
            </a:r>
            <a:r>
              <a:rPr sz="6000" spc="-190" dirty="0"/>
              <a:t> </a:t>
            </a:r>
            <a:r>
              <a:rPr sz="6000" spc="-25" dirty="0"/>
              <a:t>de</a:t>
            </a:r>
            <a:r>
              <a:rPr sz="6000" dirty="0"/>
              <a:t>	</a:t>
            </a:r>
            <a:r>
              <a:rPr sz="6000" spc="-10" dirty="0"/>
              <a:t>Dados</a:t>
            </a:r>
            <a:endParaRPr sz="6000"/>
          </a:p>
        </p:txBody>
      </p:sp>
      <p:sp>
        <p:nvSpPr>
          <p:cNvPr id="7" name="object 7"/>
          <p:cNvSpPr txBox="1"/>
          <p:nvPr/>
        </p:nvSpPr>
        <p:spPr>
          <a:xfrm>
            <a:off x="826667" y="2737568"/>
            <a:ext cx="13776960" cy="6609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4445" indent="-1261745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1274445" algn="l"/>
              </a:tabLst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Matplotlib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biblioteca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base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visualizações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Clr>
                <a:srgbClr val="FFFFFF"/>
              </a:buClr>
              <a:buFont typeface="Arial MT"/>
              <a:buAutoNum type="arabicPeriod" startAt="3"/>
            </a:pPr>
            <a:endParaRPr sz="3600" dirty="0">
              <a:latin typeface="Arial MT"/>
              <a:cs typeface="Arial MT"/>
            </a:endParaRPr>
          </a:p>
          <a:p>
            <a:pPr marL="139065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Permite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criar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gráficos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personalizados,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linha,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barra,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pizza,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etc.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 dirty="0">
              <a:latin typeface="Arial MT"/>
              <a:cs typeface="Arial MT"/>
            </a:endParaRPr>
          </a:p>
          <a:p>
            <a:pPr marL="1274445" indent="-1261745">
              <a:lnSpc>
                <a:spcPct val="100000"/>
              </a:lnSpc>
              <a:buAutoNum type="arabicPeriod" startAt="4"/>
              <a:tabLst>
                <a:tab pos="1274445" algn="l"/>
              </a:tabLst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Seaborn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Visualizações</a:t>
            </a:r>
            <a:r>
              <a:rPr sz="3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estatísticas mais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bonitas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simples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Clr>
                <a:srgbClr val="FFFFFF"/>
              </a:buClr>
              <a:buFont typeface="Arial MT"/>
              <a:buAutoNum type="arabicPeriod" startAt="4"/>
            </a:pPr>
            <a:endParaRPr sz="3600" dirty="0">
              <a:latin typeface="Arial MT"/>
              <a:cs typeface="Arial MT"/>
            </a:endParaRPr>
          </a:p>
          <a:p>
            <a:pPr marL="12700" marR="497205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Funciona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em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cima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Matplotlib.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Ideal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exploração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visual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dos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dados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pouco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código.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3600" dirty="0">
              <a:latin typeface="Arial MT"/>
              <a:cs typeface="Arial MT"/>
            </a:endParaRPr>
          </a:p>
          <a:p>
            <a:pPr marL="1274445" indent="-1261745">
              <a:lnSpc>
                <a:spcPct val="100000"/>
              </a:lnSpc>
              <a:buAutoNum type="arabicPeriod" startAt="5"/>
              <a:tabLst>
                <a:tab pos="1274445" algn="l"/>
              </a:tabLst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Plotly Express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Gráficos interativos e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modernos</a:t>
            </a:r>
            <a:endParaRPr sz="36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Para dashboards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visualizações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mais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sofisticadas.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Os gráficos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são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interativos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(passar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mouse,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clicar,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dar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zoom,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etc.).</a:t>
            </a:r>
            <a:endParaRPr sz="3600" dirty="0">
              <a:latin typeface="Arial MT"/>
              <a:cs typeface="Arial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F259B1-EFB2-97CA-CBB6-E343642FF281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33044"/>
            <a:ext cx="1674114" cy="14409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39925" y="909319"/>
            <a:ext cx="162579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2000" algn="l"/>
                <a:tab pos="4395470" algn="l"/>
                <a:tab pos="8472170" algn="l"/>
                <a:tab pos="10110470" algn="l"/>
                <a:tab pos="13425169" algn="l"/>
                <a:tab pos="14378305" algn="l"/>
              </a:tabLst>
            </a:pPr>
            <a:r>
              <a:rPr spc="-20" dirty="0"/>
              <a:t>Como</a:t>
            </a:r>
            <a:r>
              <a:rPr dirty="0"/>
              <a:t>	elas </a:t>
            </a:r>
            <a:r>
              <a:rPr spc="-25" dirty="0"/>
              <a:t>se</a:t>
            </a:r>
            <a:r>
              <a:rPr dirty="0"/>
              <a:t>	encaixam</a:t>
            </a:r>
            <a:r>
              <a:rPr spc="-35" dirty="0"/>
              <a:t> </a:t>
            </a:r>
            <a:r>
              <a:rPr spc="-25" dirty="0"/>
              <a:t>no</a:t>
            </a:r>
            <a:r>
              <a:rPr dirty="0"/>
              <a:t>	</a:t>
            </a:r>
            <a:r>
              <a:rPr spc="-10" dirty="0"/>
              <a:t>fluxo</a:t>
            </a:r>
            <a:r>
              <a:rPr dirty="0"/>
              <a:t>	da</a:t>
            </a:r>
            <a:r>
              <a:rPr spc="-25" dirty="0"/>
              <a:t> </a:t>
            </a:r>
            <a:r>
              <a:rPr spc="-10" dirty="0"/>
              <a:t>análise</a:t>
            </a:r>
            <a:r>
              <a:rPr dirty="0"/>
              <a:t>	</a:t>
            </a:r>
            <a:r>
              <a:rPr spc="-25" dirty="0"/>
              <a:t>de</a:t>
            </a:r>
            <a:r>
              <a:rPr dirty="0"/>
              <a:t>	</a:t>
            </a:r>
            <a:r>
              <a:rPr spc="-10" dirty="0"/>
              <a:t>dados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627" y="2666492"/>
            <a:ext cx="12826619" cy="35614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3BC0F8-97C6-476D-E8A9-860FF8EFADE9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909319"/>
            <a:ext cx="1313306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9700" algn="l"/>
                <a:tab pos="5499100" algn="l"/>
              </a:tabLst>
            </a:pPr>
            <a:r>
              <a:rPr spc="-10" dirty="0"/>
              <a:t>Revisão</a:t>
            </a:r>
            <a:r>
              <a:rPr dirty="0"/>
              <a:t>	antes </a:t>
            </a:r>
            <a:r>
              <a:rPr spc="-25" dirty="0"/>
              <a:t>de</a:t>
            </a:r>
            <a:r>
              <a:rPr dirty="0"/>
              <a:t>	iniciar</a:t>
            </a:r>
            <a:r>
              <a:rPr spc="-10" dirty="0"/>
              <a:t> </a:t>
            </a:r>
            <a:r>
              <a:rPr dirty="0"/>
              <a:t>com as </a:t>
            </a:r>
            <a:r>
              <a:rPr spc="-10" dirty="0"/>
              <a:t>bibliotecas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9946" y="2701290"/>
            <a:ext cx="12674600" cy="288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Listas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Guardando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conjuntos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dados</a:t>
            </a:r>
            <a:endParaRPr sz="3600">
              <a:latin typeface="Arial MT"/>
              <a:cs typeface="Arial MT"/>
            </a:endParaRPr>
          </a:p>
          <a:p>
            <a:pPr marL="128270">
              <a:lnSpc>
                <a:spcPct val="100000"/>
              </a:lnSpc>
              <a:spcBef>
                <a:spcPts val="2835"/>
              </a:spcBef>
            </a:pPr>
            <a:r>
              <a:rPr sz="32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32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6A9954"/>
                </a:solidFill>
                <a:latin typeface="Consolas"/>
                <a:cs typeface="Consolas"/>
              </a:rPr>
              <a:t>Exemplo</a:t>
            </a:r>
            <a:r>
              <a:rPr sz="3200" spc="-5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6A9954"/>
                </a:solidFill>
                <a:latin typeface="Consolas"/>
                <a:cs typeface="Consolas"/>
              </a:rPr>
              <a:t>de</a:t>
            </a:r>
            <a:r>
              <a:rPr sz="32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6A9954"/>
                </a:solidFill>
                <a:latin typeface="Consolas"/>
                <a:cs typeface="Consolas"/>
              </a:rPr>
              <a:t>lista</a:t>
            </a:r>
            <a:r>
              <a:rPr sz="32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6A9954"/>
                </a:solidFill>
                <a:latin typeface="Consolas"/>
                <a:cs typeface="Consolas"/>
              </a:rPr>
              <a:t>com</a:t>
            </a:r>
            <a:r>
              <a:rPr sz="32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6A9954"/>
                </a:solidFill>
                <a:latin typeface="Consolas"/>
                <a:cs typeface="Consolas"/>
              </a:rPr>
              <a:t>nomes</a:t>
            </a:r>
            <a:endParaRPr sz="3200">
              <a:latin typeface="Consolas"/>
              <a:cs typeface="Consolas"/>
            </a:endParaRPr>
          </a:p>
          <a:p>
            <a:pPr marL="128270">
              <a:lnSpc>
                <a:spcPct val="100000"/>
              </a:lnSpc>
            </a:pPr>
            <a:r>
              <a:rPr sz="3200" dirty="0">
                <a:solidFill>
                  <a:srgbClr val="9CDCFD"/>
                </a:solidFill>
                <a:latin typeface="Consolas"/>
                <a:cs typeface="Consolas"/>
              </a:rPr>
              <a:t>nomes</a:t>
            </a:r>
            <a:r>
              <a:rPr sz="3200" spc="-135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200" spc="-114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[</a:t>
            </a:r>
            <a:r>
              <a:rPr sz="3200" dirty="0">
                <a:solidFill>
                  <a:srgbClr val="CE9178"/>
                </a:solidFill>
                <a:latin typeface="Consolas"/>
                <a:cs typeface="Consolas"/>
              </a:rPr>
              <a:t>"Ana"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200" spc="-114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E9178"/>
                </a:solidFill>
                <a:latin typeface="Consolas"/>
                <a:cs typeface="Consolas"/>
              </a:rPr>
              <a:t>"Bruno"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200" spc="-12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E9178"/>
                </a:solidFill>
                <a:latin typeface="Consolas"/>
                <a:cs typeface="Consolas"/>
              </a:rPr>
              <a:t>"Carlos"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200" spc="-11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E9178"/>
                </a:solidFill>
                <a:latin typeface="Consolas"/>
                <a:cs typeface="Consolas"/>
              </a:rPr>
              <a:t>"Daniela"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200" spc="-114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CE9178"/>
                </a:solidFill>
                <a:latin typeface="Consolas"/>
                <a:cs typeface="Consolas"/>
              </a:rPr>
              <a:t>"Eduardo"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]</a:t>
            </a:r>
            <a:endParaRPr sz="3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200">
              <a:latin typeface="Consolas"/>
              <a:cs typeface="Consolas"/>
            </a:endParaRPr>
          </a:p>
          <a:p>
            <a:pPr marL="128270">
              <a:lnSpc>
                <a:spcPct val="100000"/>
              </a:lnSpc>
            </a:pPr>
            <a:r>
              <a:rPr sz="3200" dirty="0">
                <a:solidFill>
                  <a:srgbClr val="6A9954"/>
                </a:solidFill>
                <a:latin typeface="Consolas"/>
                <a:cs typeface="Consolas"/>
              </a:rPr>
              <a:t># Acessando</a:t>
            </a:r>
            <a:r>
              <a:rPr sz="3200" spc="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6A9954"/>
                </a:solidFill>
                <a:latin typeface="Consolas"/>
                <a:cs typeface="Consolas"/>
              </a:rPr>
              <a:t>um</a:t>
            </a:r>
            <a:r>
              <a:rPr sz="3200" spc="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6A9954"/>
                </a:solidFill>
                <a:latin typeface="Consolas"/>
                <a:cs typeface="Consolas"/>
              </a:rPr>
              <a:t>valor</a:t>
            </a:r>
            <a:endParaRPr sz="3200">
              <a:latin typeface="Consolas"/>
              <a:cs typeface="Consola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96720" y="5678229"/>
          <a:ext cx="5659120" cy="894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marL="31750">
                        <a:lnSpc>
                          <a:spcPts val="3020"/>
                        </a:lnSpc>
                      </a:pPr>
                      <a:r>
                        <a:rPr sz="3200" spc="-10" dirty="0">
                          <a:solidFill>
                            <a:srgbClr val="DCDCAA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3200" spc="-10" dirty="0">
                          <a:solidFill>
                            <a:srgbClr val="CCCCCC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3200" spc="-10" dirty="0">
                          <a:solidFill>
                            <a:srgbClr val="9CDCFD"/>
                          </a:solidFill>
                          <a:latin typeface="Consolas"/>
                          <a:cs typeface="Consolas"/>
                        </a:rPr>
                        <a:t>nomes</a:t>
                      </a:r>
                      <a:r>
                        <a:rPr sz="3200" spc="-10" dirty="0">
                          <a:solidFill>
                            <a:srgbClr val="CCCCCC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sz="3200" spc="-1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3200" spc="-10" dirty="0">
                          <a:solidFill>
                            <a:srgbClr val="CCCCCC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2395" algn="ctr">
                        <a:lnSpc>
                          <a:spcPts val="3020"/>
                        </a:lnSpc>
                      </a:pPr>
                      <a:r>
                        <a:rPr sz="3200" spc="-5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3020"/>
                        </a:lnSpc>
                      </a:pPr>
                      <a:r>
                        <a:rPr sz="3200" spc="-25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Ana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31750">
                        <a:lnSpc>
                          <a:spcPts val="3340"/>
                        </a:lnSpc>
                      </a:pPr>
                      <a:r>
                        <a:rPr sz="3200" spc="-10" dirty="0">
                          <a:solidFill>
                            <a:srgbClr val="DCDCAA"/>
                          </a:solidFill>
                          <a:latin typeface="Consolas"/>
                          <a:cs typeface="Consolas"/>
                        </a:rPr>
                        <a:t>print</a:t>
                      </a:r>
                      <a:r>
                        <a:rPr sz="3200" spc="-10" dirty="0">
                          <a:solidFill>
                            <a:srgbClr val="CCCCCC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sz="3200" spc="-10" dirty="0">
                          <a:solidFill>
                            <a:srgbClr val="9CDCFD"/>
                          </a:solidFill>
                          <a:latin typeface="Consolas"/>
                          <a:cs typeface="Consolas"/>
                        </a:rPr>
                        <a:t>nomes</a:t>
                      </a:r>
                      <a:r>
                        <a:rPr sz="3200" spc="-10" dirty="0">
                          <a:solidFill>
                            <a:srgbClr val="CCCCCC"/>
                          </a:solidFill>
                          <a:latin typeface="Consolas"/>
                          <a:cs typeface="Consolas"/>
                        </a:rPr>
                        <a:t>[</a:t>
                      </a:r>
                      <a:r>
                        <a:rPr sz="3200" spc="-1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spc="-10" dirty="0">
                          <a:solidFill>
                            <a:srgbClr val="CCCCCC"/>
                          </a:solidFill>
                          <a:latin typeface="Consolas"/>
                          <a:cs typeface="Consolas"/>
                        </a:rPr>
                        <a:t>])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2395" algn="ctr">
                        <a:lnSpc>
                          <a:spcPts val="3340"/>
                        </a:lnSpc>
                      </a:pPr>
                      <a:r>
                        <a:rPr sz="3200" spc="-5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3340"/>
                        </a:lnSpc>
                      </a:pPr>
                      <a:r>
                        <a:rPr sz="3200" spc="-1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Carlos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715770" y="7026605"/>
            <a:ext cx="12224385" cy="9994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783590">
              <a:lnSpc>
                <a:spcPts val="3820"/>
              </a:lnSpc>
              <a:spcBef>
                <a:spcPts val="225"/>
              </a:spcBef>
            </a:pP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Pense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em</a:t>
            </a:r>
            <a:r>
              <a:rPr sz="3200" spc="-1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uma coluna de dados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com</a:t>
            </a:r>
            <a:r>
              <a:rPr sz="3200" spc="-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vários valores.</a:t>
            </a:r>
            <a:r>
              <a:rPr sz="3200" spc="-1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spc="-25" dirty="0">
                <a:solidFill>
                  <a:srgbClr val="CCCCCC"/>
                </a:solidFill>
                <a:latin typeface="Consolas"/>
                <a:cs typeface="Consolas"/>
              </a:rPr>
              <a:t>No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Pandas,</a:t>
            </a:r>
            <a:r>
              <a:rPr sz="3200" spc="-7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você</a:t>
            </a:r>
            <a:r>
              <a:rPr sz="3200" spc="-7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vai</a:t>
            </a:r>
            <a:r>
              <a:rPr sz="3200" spc="-7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ver</a:t>
            </a:r>
            <a:r>
              <a:rPr sz="3200" spc="-6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muito</a:t>
            </a:r>
            <a:r>
              <a:rPr sz="3200" spc="-6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spc="-20" dirty="0">
                <a:solidFill>
                  <a:srgbClr val="CCCCCC"/>
                </a:solidFill>
                <a:latin typeface="Consolas"/>
                <a:cs typeface="Consolas"/>
              </a:rPr>
              <a:t>isso!</a:t>
            </a:r>
            <a:endParaRPr sz="3200" dirty="0">
              <a:latin typeface="Consolas"/>
              <a:cs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ED142-6FE4-077E-6798-2D7E744C39DF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909319"/>
            <a:ext cx="1313306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9700" algn="l"/>
                <a:tab pos="5499100" algn="l"/>
              </a:tabLst>
            </a:pPr>
            <a:r>
              <a:rPr spc="-10" dirty="0"/>
              <a:t>Revisão</a:t>
            </a:r>
            <a:r>
              <a:rPr dirty="0"/>
              <a:t>	antes </a:t>
            </a:r>
            <a:r>
              <a:rPr spc="-25" dirty="0"/>
              <a:t>de</a:t>
            </a:r>
            <a:r>
              <a:rPr dirty="0"/>
              <a:t>	iniciar</a:t>
            </a:r>
            <a:r>
              <a:rPr spc="-10" dirty="0"/>
              <a:t> </a:t>
            </a:r>
            <a:r>
              <a:rPr dirty="0"/>
              <a:t>com as </a:t>
            </a:r>
            <a:r>
              <a:rPr spc="-10" dirty="0"/>
              <a:t>bibliotecas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4747" y="2311145"/>
            <a:ext cx="15729585" cy="7621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343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2.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Dicionários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Dados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em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pares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(chave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valor)</a:t>
            </a:r>
            <a:endParaRPr sz="3600" dirty="0">
              <a:latin typeface="Arial MT"/>
              <a:cs typeface="Arial MT"/>
            </a:endParaRPr>
          </a:p>
          <a:p>
            <a:pPr marL="58419" marR="508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Dicionários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são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usados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representar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informações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estruturadas.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eles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se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parecem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muito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tabelas.</a:t>
            </a:r>
            <a:endParaRPr sz="3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3200" dirty="0">
                <a:solidFill>
                  <a:srgbClr val="9CDCFD"/>
                </a:solidFill>
                <a:latin typeface="Consolas"/>
                <a:cs typeface="Consolas"/>
              </a:rPr>
              <a:t>pessoa</a:t>
            </a:r>
            <a:r>
              <a:rPr sz="3200" spc="-7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2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50" dirty="0">
                <a:solidFill>
                  <a:srgbClr val="CCCCCC"/>
                </a:solidFill>
                <a:latin typeface="Consolas"/>
                <a:cs typeface="Consolas"/>
              </a:rPr>
              <a:t>{</a:t>
            </a:r>
            <a:endParaRPr sz="3200" dirty="0">
              <a:latin typeface="Consolas"/>
              <a:cs typeface="Consolas"/>
            </a:endParaRPr>
          </a:p>
          <a:p>
            <a:pPr marL="908685" marR="10113645">
              <a:lnSpc>
                <a:spcPct val="100000"/>
              </a:lnSpc>
            </a:pPr>
            <a:r>
              <a:rPr sz="3200" dirty="0">
                <a:solidFill>
                  <a:srgbClr val="CE9178"/>
                </a:solidFill>
                <a:latin typeface="Consolas"/>
                <a:cs typeface="Consolas"/>
              </a:rPr>
              <a:t>"nome"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:</a:t>
            </a:r>
            <a:r>
              <a:rPr sz="3200" spc="-13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CE9178"/>
                </a:solidFill>
                <a:latin typeface="Consolas"/>
                <a:cs typeface="Consolas"/>
              </a:rPr>
              <a:t>"Ana"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, </a:t>
            </a:r>
            <a:r>
              <a:rPr sz="3200" dirty="0">
                <a:solidFill>
                  <a:srgbClr val="CE9178"/>
                </a:solidFill>
                <a:latin typeface="Consolas"/>
                <a:cs typeface="Consolas"/>
              </a:rPr>
              <a:t>"idade"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:</a:t>
            </a:r>
            <a:r>
              <a:rPr sz="3200" spc="-2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spc="-25" dirty="0">
                <a:solidFill>
                  <a:srgbClr val="B5CEA8"/>
                </a:solidFill>
                <a:latin typeface="Consolas"/>
                <a:cs typeface="Consolas"/>
              </a:rPr>
              <a:t>23</a:t>
            </a:r>
            <a:r>
              <a:rPr sz="3200" spc="-25" dirty="0">
                <a:solidFill>
                  <a:srgbClr val="CCCCCC"/>
                </a:solidFill>
                <a:latin typeface="Consolas"/>
                <a:cs typeface="Consolas"/>
              </a:rPr>
              <a:t>, </a:t>
            </a:r>
            <a:r>
              <a:rPr sz="3200" dirty="0">
                <a:solidFill>
                  <a:srgbClr val="CE9178"/>
                </a:solidFill>
                <a:latin typeface="Consolas"/>
                <a:cs typeface="Consolas"/>
              </a:rPr>
              <a:t>"cidade"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:</a:t>
            </a:r>
            <a:r>
              <a:rPr sz="3200" spc="-114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E9178"/>
                </a:solidFill>
                <a:latin typeface="Consolas"/>
                <a:cs typeface="Consolas"/>
              </a:rPr>
              <a:t>"São</a:t>
            </a:r>
            <a:r>
              <a:rPr sz="3200" spc="-12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CE9178"/>
                </a:solidFill>
                <a:latin typeface="Consolas"/>
                <a:cs typeface="Consolas"/>
              </a:rPr>
              <a:t>Paulo"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spc="-50" dirty="0">
                <a:solidFill>
                  <a:srgbClr val="CCCCCC"/>
                </a:solidFill>
                <a:latin typeface="Consolas"/>
                <a:cs typeface="Consolas"/>
              </a:rPr>
              <a:t>}</a:t>
            </a:r>
            <a:endParaRPr sz="3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3200" dirty="0">
              <a:latin typeface="Consolas"/>
              <a:cs typeface="Consolas"/>
            </a:endParaRPr>
          </a:p>
          <a:p>
            <a:pPr marL="12700" marR="9217660">
              <a:lnSpc>
                <a:spcPct val="100000"/>
              </a:lnSpc>
              <a:tabLst>
                <a:tab pos="5382895" algn="l"/>
              </a:tabLst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print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(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pessoa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[</a:t>
            </a:r>
            <a:r>
              <a:rPr sz="3200" spc="-10" dirty="0">
                <a:solidFill>
                  <a:srgbClr val="CE9178"/>
                </a:solidFill>
                <a:latin typeface="Consolas"/>
                <a:cs typeface="Consolas"/>
              </a:rPr>
              <a:t>"nome"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])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	</a:t>
            </a:r>
            <a:r>
              <a:rPr sz="32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3200" spc="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3200" spc="-25" dirty="0">
                <a:solidFill>
                  <a:srgbClr val="6A9954"/>
                </a:solidFill>
                <a:latin typeface="Consolas"/>
                <a:cs typeface="Consolas"/>
              </a:rPr>
              <a:t>Ana </a:t>
            </a: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print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(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pessoa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[</a:t>
            </a:r>
            <a:r>
              <a:rPr sz="3200" spc="-10" dirty="0">
                <a:solidFill>
                  <a:srgbClr val="CE9178"/>
                </a:solidFill>
                <a:latin typeface="Consolas"/>
                <a:cs typeface="Consolas"/>
              </a:rPr>
              <a:t>"idade"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])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	</a:t>
            </a:r>
            <a:r>
              <a:rPr sz="32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3200" spc="-1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3200" spc="-25" dirty="0">
                <a:solidFill>
                  <a:srgbClr val="6A9954"/>
                </a:solidFill>
                <a:latin typeface="Consolas"/>
                <a:cs typeface="Consolas"/>
              </a:rPr>
              <a:t>23</a:t>
            </a:r>
            <a:endParaRPr sz="3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3200" dirty="0">
              <a:latin typeface="Consolas"/>
              <a:cs typeface="Consolas"/>
            </a:endParaRPr>
          </a:p>
          <a:p>
            <a:pPr marL="12700" marR="2729865" indent="782955">
              <a:lnSpc>
                <a:spcPct val="99700"/>
              </a:lnSpc>
            </a:pP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Um</a:t>
            </a:r>
            <a:r>
              <a:rPr sz="3200" spc="-8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DataFrame</a:t>
            </a:r>
            <a:r>
              <a:rPr sz="3200" spc="-7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do</a:t>
            </a:r>
            <a:r>
              <a:rPr sz="3200" spc="-7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Pandas</a:t>
            </a:r>
            <a:r>
              <a:rPr sz="3200" spc="-8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pode</a:t>
            </a:r>
            <a:r>
              <a:rPr sz="3200" spc="-8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ser</a:t>
            </a:r>
            <a:r>
              <a:rPr sz="3200" spc="-6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criado</a:t>
            </a:r>
            <a:r>
              <a:rPr sz="3200" spc="-8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a</a:t>
            </a:r>
            <a:r>
              <a:rPr sz="3200" spc="-8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partir</a:t>
            </a:r>
            <a:r>
              <a:rPr sz="3200" spc="-7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de</a:t>
            </a:r>
            <a:r>
              <a:rPr sz="3200" spc="-8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spc="-25" dirty="0">
                <a:solidFill>
                  <a:srgbClr val="CCCCCC"/>
                </a:solidFill>
                <a:latin typeface="Consolas"/>
                <a:cs typeface="Consolas"/>
              </a:rPr>
              <a:t>um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dicionário</a:t>
            </a:r>
            <a:r>
              <a:rPr sz="3200" spc="-9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de</a:t>
            </a:r>
            <a:r>
              <a:rPr sz="3200" spc="-9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listas,</a:t>
            </a:r>
            <a:r>
              <a:rPr sz="3200" spc="-9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onde</a:t>
            </a:r>
            <a:r>
              <a:rPr sz="3200" spc="-9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cada</a:t>
            </a:r>
            <a:r>
              <a:rPr sz="3200" spc="-9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chave</a:t>
            </a:r>
            <a:r>
              <a:rPr sz="3200" spc="-9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representa</a:t>
            </a:r>
            <a:r>
              <a:rPr sz="3200" spc="-9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o</a:t>
            </a:r>
            <a:r>
              <a:rPr sz="3200" spc="-9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nome</a:t>
            </a:r>
            <a:r>
              <a:rPr sz="3200" spc="-9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spc="-35" dirty="0">
                <a:solidFill>
                  <a:srgbClr val="CCCCCC"/>
                </a:solidFill>
                <a:latin typeface="Consolas"/>
                <a:cs typeface="Consolas"/>
              </a:rPr>
              <a:t>da 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coluna.</a:t>
            </a:r>
            <a:endParaRPr sz="3200" dirty="0">
              <a:latin typeface="Consolas"/>
              <a:cs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88F1CB-D488-FC07-24DA-ABDE2BD34647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909319"/>
            <a:ext cx="1313306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9700" algn="l"/>
                <a:tab pos="5499735" algn="l"/>
              </a:tabLst>
            </a:pPr>
            <a:r>
              <a:rPr spc="-10" dirty="0"/>
              <a:t>Revisão</a:t>
            </a:r>
            <a:r>
              <a:rPr dirty="0"/>
              <a:t>	antes </a:t>
            </a:r>
            <a:r>
              <a:rPr spc="-25" dirty="0"/>
              <a:t>de</a:t>
            </a:r>
            <a:r>
              <a:rPr dirty="0"/>
              <a:t>	iniciar</a:t>
            </a:r>
            <a:r>
              <a:rPr spc="-10" dirty="0"/>
              <a:t> </a:t>
            </a:r>
            <a:r>
              <a:rPr dirty="0"/>
              <a:t>com as </a:t>
            </a:r>
            <a:r>
              <a:rPr spc="-10" dirty="0"/>
              <a:t>bibliotecas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47800" y="2337637"/>
            <a:ext cx="11843385" cy="2863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343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3.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Funções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Reaproveitando</a:t>
            </a:r>
            <a:r>
              <a:rPr sz="3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lógica</a:t>
            </a:r>
            <a:endParaRPr sz="3600" dirty="0">
              <a:latin typeface="Arial MT"/>
              <a:cs typeface="Arial MT"/>
            </a:endParaRPr>
          </a:p>
          <a:p>
            <a:pPr marL="58419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Funções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são blocos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código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3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podemos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reaproveitar.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3600" dirty="0">
              <a:latin typeface="Arial MT"/>
              <a:cs typeface="Arial MT"/>
            </a:endParaRPr>
          </a:p>
          <a:p>
            <a:pPr marL="1016635" marR="5553710" indent="-1004569">
              <a:lnSpc>
                <a:spcPct val="100000"/>
              </a:lnSpc>
            </a:pPr>
            <a:r>
              <a:rPr sz="3600" dirty="0">
                <a:solidFill>
                  <a:srgbClr val="559CD5"/>
                </a:solidFill>
                <a:latin typeface="Consolas"/>
                <a:cs typeface="Consolas"/>
              </a:rPr>
              <a:t>def</a:t>
            </a:r>
            <a:r>
              <a:rPr sz="3600" spc="-2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3600" spc="-10" dirty="0">
                <a:solidFill>
                  <a:srgbClr val="DCDCAA"/>
                </a:solidFill>
                <a:latin typeface="Consolas"/>
                <a:cs typeface="Consolas"/>
              </a:rPr>
              <a:t>saudacao</a:t>
            </a:r>
            <a:r>
              <a:rPr sz="3600" spc="-10" dirty="0">
                <a:solidFill>
                  <a:srgbClr val="CCCCCC"/>
                </a:solidFill>
                <a:latin typeface="Consolas"/>
                <a:cs typeface="Consolas"/>
              </a:rPr>
              <a:t>(</a:t>
            </a:r>
            <a:r>
              <a:rPr sz="3600" spc="-10" dirty="0">
                <a:solidFill>
                  <a:srgbClr val="9CDCFD"/>
                </a:solidFill>
                <a:latin typeface="Consolas"/>
                <a:cs typeface="Consolas"/>
              </a:rPr>
              <a:t>nome</a:t>
            </a:r>
            <a:r>
              <a:rPr sz="3600" spc="-10" dirty="0">
                <a:solidFill>
                  <a:srgbClr val="CCCCCC"/>
                </a:solidFill>
                <a:latin typeface="Consolas"/>
                <a:cs typeface="Consolas"/>
              </a:rPr>
              <a:t>): </a:t>
            </a:r>
            <a:r>
              <a:rPr sz="3600" dirty="0">
                <a:solidFill>
                  <a:srgbClr val="C585C0"/>
                </a:solidFill>
                <a:latin typeface="Consolas"/>
                <a:cs typeface="Consolas"/>
              </a:rPr>
              <a:t>return</a:t>
            </a:r>
            <a:r>
              <a:rPr sz="3600" spc="-70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559CD5"/>
                </a:solidFill>
                <a:latin typeface="Consolas"/>
                <a:cs typeface="Consolas"/>
              </a:rPr>
              <a:t>f</a:t>
            </a:r>
            <a:r>
              <a:rPr sz="3600" dirty="0">
                <a:solidFill>
                  <a:srgbClr val="CE9178"/>
                </a:solidFill>
                <a:latin typeface="Consolas"/>
                <a:cs typeface="Consolas"/>
              </a:rPr>
              <a:t>"Olá,</a:t>
            </a:r>
            <a:r>
              <a:rPr sz="3600" spc="-6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3600" spc="-10" dirty="0">
                <a:solidFill>
                  <a:srgbClr val="559CD5"/>
                </a:solidFill>
                <a:latin typeface="Consolas"/>
                <a:cs typeface="Consolas"/>
              </a:rPr>
              <a:t>{</a:t>
            </a:r>
            <a:r>
              <a:rPr sz="3600" spc="-10" dirty="0">
                <a:solidFill>
                  <a:srgbClr val="9CDCFD"/>
                </a:solidFill>
                <a:latin typeface="Consolas"/>
                <a:cs typeface="Consolas"/>
              </a:rPr>
              <a:t>nome</a:t>
            </a:r>
            <a:r>
              <a:rPr sz="3600" spc="-10" dirty="0">
                <a:solidFill>
                  <a:srgbClr val="559CD5"/>
                </a:solidFill>
                <a:latin typeface="Consolas"/>
                <a:cs typeface="Consolas"/>
              </a:rPr>
              <a:t>}</a:t>
            </a:r>
            <a:r>
              <a:rPr sz="3600" spc="-10" dirty="0">
                <a:solidFill>
                  <a:srgbClr val="CE9178"/>
                </a:solidFill>
                <a:latin typeface="Consolas"/>
                <a:cs typeface="Consolas"/>
              </a:rPr>
              <a:t>"</a:t>
            </a:r>
            <a:endParaRPr sz="36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4747" y="5697982"/>
            <a:ext cx="6294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DCDCAA"/>
                </a:solidFill>
                <a:latin typeface="Consolas"/>
                <a:cs typeface="Consolas"/>
              </a:rPr>
              <a:t>print</a:t>
            </a:r>
            <a:r>
              <a:rPr sz="3600" spc="-10" dirty="0">
                <a:solidFill>
                  <a:srgbClr val="CCCCCC"/>
                </a:solidFill>
                <a:latin typeface="Consolas"/>
                <a:cs typeface="Consolas"/>
              </a:rPr>
              <a:t>(</a:t>
            </a:r>
            <a:r>
              <a:rPr sz="3600" spc="-10" dirty="0">
                <a:solidFill>
                  <a:srgbClr val="DCDCAA"/>
                </a:solidFill>
                <a:latin typeface="Consolas"/>
                <a:cs typeface="Consolas"/>
              </a:rPr>
              <a:t>saudacao</a:t>
            </a:r>
            <a:r>
              <a:rPr sz="3600" spc="-10" dirty="0">
                <a:solidFill>
                  <a:srgbClr val="CCCCCC"/>
                </a:solidFill>
                <a:latin typeface="Consolas"/>
                <a:cs typeface="Consolas"/>
              </a:rPr>
              <a:t>(</a:t>
            </a:r>
            <a:r>
              <a:rPr sz="3600" spc="-10" dirty="0">
                <a:solidFill>
                  <a:srgbClr val="CE9178"/>
                </a:solidFill>
                <a:latin typeface="Consolas"/>
                <a:cs typeface="Consolas"/>
              </a:rPr>
              <a:t>"Carlos"</a:t>
            </a:r>
            <a:r>
              <a:rPr sz="3600" spc="-10" dirty="0">
                <a:solidFill>
                  <a:srgbClr val="CCCCCC"/>
                </a:solidFill>
                <a:latin typeface="Consolas"/>
                <a:cs typeface="Consolas"/>
              </a:rPr>
              <a:t>))</a:t>
            </a:r>
            <a:endParaRPr sz="36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74991" y="5697982"/>
            <a:ext cx="3286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3600" spc="-2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6A9954"/>
                </a:solidFill>
                <a:latin typeface="Consolas"/>
                <a:cs typeface="Consolas"/>
              </a:rPr>
              <a:t>Olá,</a:t>
            </a:r>
            <a:r>
              <a:rPr sz="3600" spc="-1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3600" spc="-10" dirty="0">
                <a:solidFill>
                  <a:srgbClr val="6A9954"/>
                </a:solidFill>
                <a:latin typeface="Consolas"/>
                <a:cs typeface="Consolas"/>
              </a:rPr>
              <a:t>Carlos</a:t>
            </a:r>
            <a:endParaRPr sz="36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4747" y="7836534"/>
            <a:ext cx="13566140" cy="99885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782955">
              <a:lnSpc>
                <a:spcPts val="3820"/>
              </a:lnSpc>
              <a:spcBef>
                <a:spcPts val="220"/>
              </a:spcBef>
            </a:pP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No</a:t>
            </a:r>
            <a:r>
              <a:rPr sz="3200" spc="-9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Pandas,</a:t>
            </a:r>
            <a:r>
              <a:rPr sz="3200" spc="-9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vamos</a:t>
            </a:r>
            <a:r>
              <a:rPr sz="3200" spc="-9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usar</a:t>
            </a:r>
            <a:r>
              <a:rPr sz="3200" spc="-9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métodos,</a:t>
            </a:r>
            <a:r>
              <a:rPr sz="3200" spc="-9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que</a:t>
            </a:r>
            <a:r>
              <a:rPr sz="3200" spc="-9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funcionam</a:t>
            </a:r>
            <a:r>
              <a:rPr sz="3200" spc="-9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como</a:t>
            </a:r>
            <a:r>
              <a:rPr sz="3200" spc="-9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funções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aplicadas</a:t>
            </a:r>
            <a:r>
              <a:rPr sz="3200" spc="-11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aos</a:t>
            </a:r>
            <a:r>
              <a:rPr sz="3200" spc="-10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dados: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F7392C-FB78-C927-8580-A50E5B514F0B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909319"/>
            <a:ext cx="1313306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9700" algn="l"/>
                <a:tab pos="5499100" algn="l"/>
              </a:tabLst>
            </a:pPr>
            <a:r>
              <a:rPr spc="-10" dirty="0"/>
              <a:t>Revisão</a:t>
            </a:r>
            <a:r>
              <a:rPr dirty="0"/>
              <a:t>	antes </a:t>
            </a:r>
            <a:r>
              <a:rPr spc="-25" dirty="0"/>
              <a:t>de</a:t>
            </a:r>
            <a:r>
              <a:rPr dirty="0"/>
              <a:t>	iniciar</a:t>
            </a:r>
            <a:r>
              <a:rPr spc="-10" dirty="0"/>
              <a:t> </a:t>
            </a:r>
            <a:r>
              <a:rPr dirty="0"/>
              <a:t>com as </a:t>
            </a:r>
            <a:r>
              <a:rPr spc="-10" dirty="0"/>
              <a:t>bibliotecas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7820" y="2324100"/>
            <a:ext cx="16083280" cy="62812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98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4.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Objetos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3600" spc="-5" dirty="0" err="1">
                <a:solidFill>
                  <a:srgbClr val="FFFFFF"/>
                </a:solidFill>
                <a:latin typeface="Arial MT"/>
                <a:cs typeface="Arial MT"/>
              </a:rPr>
              <a:t>m</a:t>
            </a:r>
            <a:r>
              <a:rPr sz="3600" spc="-10" dirty="0" err="1">
                <a:solidFill>
                  <a:srgbClr val="FFFFFF"/>
                </a:solidFill>
                <a:latin typeface="Arial MT"/>
                <a:cs typeface="Arial MT"/>
              </a:rPr>
              <a:t>étodos</a:t>
            </a:r>
            <a:endParaRPr sz="3600" dirty="0">
              <a:latin typeface="Arial MT"/>
              <a:cs typeface="Arial MT"/>
            </a:endParaRPr>
          </a:p>
          <a:p>
            <a:pPr marL="13970" marR="5080">
              <a:lnSpc>
                <a:spcPct val="100000"/>
              </a:lnSpc>
              <a:tabLst>
                <a:tab pos="13681075" algn="l"/>
              </a:tabLst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No Pandas,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quase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tudo é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 objeto.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Por exemplo,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DataFrame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	é um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objeto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diversos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métodos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(ações).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3600" dirty="0">
              <a:latin typeface="Arial MT"/>
              <a:cs typeface="Arial MT"/>
            </a:endParaRPr>
          </a:p>
          <a:p>
            <a:pPr marL="12700" marR="1809114">
              <a:lnSpc>
                <a:spcPct val="100000"/>
              </a:lnSpc>
            </a:pPr>
            <a:r>
              <a:rPr sz="40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4000" spc="-9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6A9954"/>
                </a:solidFill>
                <a:latin typeface="Consolas"/>
                <a:cs typeface="Consolas"/>
              </a:rPr>
              <a:t>exemplo</a:t>
            </a:r>
            <a:r>
              <a:rPr sz="4000" spc="-7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6A9954"/>
                </a:solidFill>
                <a:latin typeface="Consolas"/>
                <a:cs typeface="Consolas"/>
              </a:rPr>
              <a:t>simples</a:t>
            </a:r>
            <a:r>
              <a:rPr sz="4000" spc="-8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6A9954"/>
                </a:solidFill>
                <a:latin typeface="Consolas"/>
                <a:cs typeface="Consolas"/>
              </a:rPr>
              <a:t>de</a:t>
            </a:r>
            <a:r>
              <a:rPr sz="4000" spc="-7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6A9954"/>
                </a:solidFill>
                <a:latin typeface="Consolas"/>
                <a:cs typeface="Consolas"/>
              </a:rPr>
              <a:t>string,</a:t>
            </a:r>
            <a:r>
              <a:rPr sz="4000" spc="-8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6A9954"/>
                </a:solidFill>
                <a:latin typeface="Consolas"/>
                <a:cs typeface="Consolas"/>
              </a:rPr>
              <a:t>que</a:t>
            </a:r>
            <a:r>
              <a:rPr sz="4000" spc="-8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6A9954"/>
                </a:solidFill>
                <a:latin typeface="Consolas"/>
                <a:cs typeface="Consolas"/>
              </a:rPr>
              <a:t>também</a:t>
            </a:r>
            <a:r>
              <a:rPr sz="4000" spc="-7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6A9954"/>
                </a:solidFill>
                <a:latin typeface="Consolas"/>
                <a:cs typeface="Consolas"/>
              </a:rPr>
              <a:t>é</a:t>
            </a:r>
            <a:r>
              <a:rPr sz="4000" spc="-9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6A9954"/>
                </a:solidFill>
                <a:latin typeface="Consolas"/>
                <a:cs typeface="Consolas"/>
              </a:rPr>
              <a:t>um</a:t>
            </a:r>
            <a:r>
              <a:rPr sz="4000" spc="-8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4000" spc="-10" dirty="0">
                <a:solidFill>
                  <a:srgbClr val="6A9954"/>
                </a:solidFill>
                <a:latin typeface="Consolas"/>
                <a:cs typeface="Consolas"/>
              </a:rPr>
              <a:t>objeto </a:t>
            </a:r>
            <a:r>
              <a:rPr sz="4000" dirty="0">
                <a:solidFill>
                  <a:srgbClr val="9CDCFD"/>
                </a:solidFill>
                <a:latin typeface="Consolas"/>
                <a:cs typeface="Consolas"/>
              </a:rPr>
              <a:t>texto</a:t>
            </a:r>
            <a:r>
              <a:rPr sz="4000" spc="-75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4000" spc="-8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CE9178"/>
                </a:solidFill>
                <a:latin typeface="Consolas"/>
                <a:cs typeface="Consolas"/>
              </a:rPr>
              <a:t>"ciência</a:t>
            </a:r>
            <a:r>
              <a:rPr sz="4000" spc="-8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CE9178"/>
                </a:solidFill>
                <a:latin typeface="Consolas"/>
                <a:cs typeface="Consolas"/>
              </a:rPr>
              <a:t>de</a:t>
            </a:r>
            <a:r>
              <a:rPr sz="4000" spc="-7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4000" spc="-10" dirty="0">
                <a:solidFill>
                  <a:srgbClr val="CE9178"/>
                </a:solidFill>
                <a:latin typeface="Consolas"/>
                <a:cs typeface="Consolas"/>
              </a:rPr>
              <a:t>dados"</a:t>
            </a:r>
            <a:endParaRPr sz="4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6160770" algn="l"/>
              </a:tabLst>
            </a:pPr>
            <a:r>
              <a:rPr sz="4000" spc="-10" dirty="0">
                <a:solidFill>
                  <a:srgbClr val="DCDCAA"/>
                </a:solidFill>
                <a:latin typeface="Consolas"/>
                <a:cs typeface="Consolas"/>
              </a:rPr>
              <a:t>print</a:t>
            </a:r>
            <a:r>
              <a:rPr sz="4000" spc="-10" dirty="0">
                <a:solidFill>
                  <a:srgbClr val="CCCCCC"/>
                </a:solidFill>
                <a:latin typeface="Consolas"/>
                <a:cs typeface="Consolas"/>
              </a:rPr>
              <a:t>(</a:t>
            </a:r>
            <a:r>
              <a:rPr sz="4000" spc="-10" dirty="0">
                <a:solidFill>
                  <a:srgbClr val="9CDCFD"/>
                </a:solidFill>
                <a:latin typeface="Consolas"/>
                <a:cs typeface="Consolas"/>
              </a:rPr>
              <a:t>texto</a:t>
            </a:r>
            <a:r>
              <a:rPr sz="4000" spc="-10" dirty="0">
                <a:solidFill>
                  <a:srgbClr val="CCCCCC"/>
                </a:solidFill>
                <a:latin typeface="Consolas"/>
                <a:cs typeface="Consolas"/>
              </a:rPr>
              <a:t>.</a:t>
            </a:r>
            <a:r>
              <a:rPr sz="4000" spc="-10" dirty="0">
                <a:solidFill>
                  <a:srgbClr val="DCDCAA"/>
                </a:solidFill>
                <a:latin typeface="Consolas"/>
                <a:cs typeface="Consolas"/>
              </a:rPr>
              <a:t>upper</a:t>
            </a:r>
            <a:r>
              <a:rPr sz="4000" spc="-10" dirty="0">
                <a:solidFill>
                  <a:srgbClr val="CCCCCC"/>
                </a:solidFill>
                <a:latin typeface="Consolas"/>
                <a:cs typeface="Consolas"/>
              </a:rPr>
              <a:t>())</a:t>
            </a:r>
            <a:r>
              <a:rPr sz="4000" dirty="0">
                <a:solidFill>
                  <a:srgbClr val="CCCCCC"/>
                </a:solidFill>
                <a:latin typeface="Consolas"/>
                <a:cs typeface="Consolas"/>
              </a:rPr>
              <a:t>	</a:t>
            </a:r>
            <a:r>
              <a:rPr sz="40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4000" spc="-9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6A9954"/>
                </a:solidFill>
                <a:latin typeface="Consolas"/>
                <a:cs typeface="Consolas"/>
              </a:rPr>
              <a:t>transforma</a:t>
            </a:r>
            <a:r>
              <a:rPr sz="4000" spc="-7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6A9954"/>
                </a:solidFill>
                <a:latin typeface="Consolas"/>
                <a:cs typeface="Consolas"/>
              </a:rPr>
              <a:t>em</a:t>
            </a:r>
            <a:r>
              <a:rPr sz="4000" spc="-9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4000" spc="-10" dirty="0">
                <a:solidFill>
                  <a:srgbClr val="6A9954"/>
                </a:solidFill>
                <a:latin typeface="Consolas"/>
                <a:cs typeface="Consolas"/>
              </a:rPr>
              <a:t>maiúsculas</a:t>
            </a:r>
            <a:endParaRPr sz="4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60"/>
              </a:spcBef>
            </a:pPr>
            <a:endParaRPr sz="4000" dirty="0">
              <a:latin typeface="Consolas"/>
              <a:cs typeface="Consolas"/>
            </a:endParaRPr>
          </a:p>
          <a:p>
            <a:pPr marL="12700" marR="2521585" indent="782955">
              <a:lnSpc>
                <a:spcPts val="3820"/>
              </a:lnSpc>
            </a:pP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No</a:t>
            </a:r>
            <a:r>
              <a:rPr sz="3200" spc="-9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Pandas,</a:t>
            </a:r>
            <a:r>
              <a:rPr sz="3200" spc="-9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vamos</a:t>
            </a:r>
            <a:r>
              <a:rPr sz="3200" spc="-9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usar</a:t>
            </a:r>
            <a:r>
              <a:rPr sz="3200" spc="-9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métodos,</a:t>
            </a:r>
            <a:r>
              <a:rPr sz="3200" spc="-9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que</a:t>
            </a:r>
            <a:r>
              <a:rPr sz="3200" spc="-9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funcionam</a:t>
            </a:r>
            <a:r>
              <a:rPr sz="3200" spc="-9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como</a:t>
            </a:r>
            <a:r>
              <a:rPr sz="3200" spc="-9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funções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aplicadas</a:t>
            </a:r>
            <a:r>
              <a:rPr sz="3200" spc="-11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aos</a:t>
            </a:r>
            <a:r>
              <a:rPr sz="3200" spc="-10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dados:</a:t>
            </a:r>
            <a:endParaRPr sz="3200" dirty="0">
              <a:latin typeface="Consolas"/>
              <a:cs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5D751E-858B-07A9-DDE6-D32E53C745FF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909319"/>
            <a:ext cx="1313306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9700" algn="l"/>
                <a:tab pos="5499100" algn="l"/>
              </a:tabLst>
            </a:pPr>
            <a:r>
              <a:rPr spc="-10" dirty="0"/>
              <a:t>Revisão</a:t>
            </a:r>
            <a:r>
              <a:rPr dirty="0"/>
              <a:t>	antes </a:t>
            </a:r>
            <a:r>
              <a:rPr spc="-25" dirty="0"/>
              <a:t>de</a:t>
            </a:r>
            <a:r>
              <a:rPr dirty="0"/>
              <a:t>	iniciar</a:t>
            </a:r>
            <a:r>
              <a:rPr spc="-10" dirty="0"/>
              <a:t> </a:t>
            </a:r>
            <a:r>
              <a:rPr dirty="0"/>
              <a:t>com as </a:t>
            </a:r>
            <a:r>
              <a:rPr spc="-10" dirty="0"/>
              <a:t>bibliotecas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0772" y="2311145"/>
            <a:ext cx="14100175" cy="6687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Exercícios</a:t>
            </a:r>
            <a:endParaRPr sz="3600">
              <a:latin typeface="Arial MT"/>
              <a:cs typeface="Arial MT"/>
            </a:endParaRPr>
          </a:p>
          <a:p>
            <a:pPr marL="99060" marR="127635">
              <a:lnSpc>
                <a:spcPct val="100000"/>
              </a:lnSpc>
              <a:spcBef>
                <a:spcPts val="2960"/>
              </a:spcBef>
            </a:pP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1.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Dada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lista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de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nomes,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crie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uma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nova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lista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com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apenas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os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nomes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spc="-25" dirty="0">
                <a:solidFill>
                  <a:srgbClr val="6A9954"/>
                </a:solidFill>
                <a:latin typeface="Consolas"/>
                <a:cs typeface="Consolas"/>
              </a:rPr>
              <a:t>com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mais de</a:t>
            </a:r>
            <a:r>
              <a:rPr sz="2800" spc="-1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5</a:t>
            </a:r>
            <a:r>
              <a:rPr sz="2800" spc="-10" dirty="0">
                <a:solidFill>
                  <a:srgbClr val="6A9954"/>
                </a:solidFill>
                <a:latin typeface="Consolas"/>
                <a:cs typeface="Consolas"/>
              </a:rPr>
              <a:t> letras</a:t>
            </a:r>
            <a:endParaRPr sz="2800">
              <a:latin typeface="Consolas"/>
              <a:cs typeface="Consolas"/>
            </a:endParaRPr>
          </a:p>
          <a:p>
            <a:pPr marL="99060" marR="125730">
              <a:lnSpc>
                <a:spcPct val="200000"/>
              </a:lnSpc>
            </a:pP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nomes</a:t>
            </a:r>
            <a:r>
              <a:rPr sz="2800" spc="-125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2800" spc="-1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[</a:t>
            </a:r>
            <a:r>
              <a:rPr sz="2800" dirty="0">
                <a:solidFill>
                  <a:srgbClr val="CE9178"/>
                </a:solidFill>
                <a:latin typeface="Consolas"/>
                <a:cs typeface="Consolas"/>
              </a:rPr>
              <a:t>"Ana"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114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CE9178"/>
                </a:solidFill>
                <a:latin typeface="Consolas"/>
                <a:cs typeface="Consolas"/>
              </a:rPr>
              <a:t>"Bruno"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114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CE9178"/>
                </a:solidFill>
                <a:latin typeface="Consolas"/>
                <a:cs typeface="Consolas"/>
              </a:rPr>
              <a:t>"Carla"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114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CE9178"/>
                </a:solidFill>
                <a:latin typeface="Consolas"/>
                <a:cs typeface="Consolas"/>
              </a:rPr>
              <a:t>"Daniela"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114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CE9178"/>
                </a:solidFill>
                <a:latin typeface="Consolas"/>
                <a:cs typeface="Consolas"/>
              </a:rPr>
              <a:t>"Eva"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114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CE9178"/>
                </a:solidFill>
                <a:latin typeface="Consolas"/>
                <a:cs typeface="Consolas"/>
              </a:rPr>
              <a:t>"Fernanda"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11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CE9178"/>
                </a:solidFill>
                <a:latin typeface="Consolas"/>
                <a:cs typeface="Consolas"/>
              </a:rPr>
              <a:t>"Igor"</a:t>
            </a:r>
            <a:r>
              <a:rPr sz="2800" spc="-10" dirty="0">
                <a:solidFill>
                  <a:srgbClr val="CCCCCC"/>
                </a:solidFill>
                <a:latin typeface="Consolas"/>
                <a:cs typeface="Consolas"/>
              </a:rPr>
              <a:t>]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2800" spc="-114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Resultado</a:t>
            </a:r>
            <a:r>
              <a:rPr sz="2800" spc="-114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esperado:</a:t>
            </a:r>
            <a:r>
              <a:rPr sz="2800" spc="-9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["Bruno",</a:t>
            </a:r>
            <a:r>
              <a:rPr sz="2800" spc="-114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"Carla",</a:t>
            </a:r>
            <a:r>
              <a:rPr sz="2800" spc="-11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"Daniela",</a:t>
            </a:r>
            <a:r>
              <a:rPr sz="2800" spc="-114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6A9954"/>
                </a:solidFill>
                <a:latin typeface="Consolas"/>
                <a:cs typeface="Consolas"/>
              </a:rPr>
              <a:t>"Fernanda"]</a:t>
            </a:r>
            <a:endParaRPr sz="2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sz="2800">
              <a:latin typeface="Consolas"/>
              <a:cs typeface="Consolas"/>
            </a:endParaRPr>
          </a:p>
          <a:p>
            <a:pPr marL="222250" marR="5080">
              <a:lnSpc>
                <a:spcPct val="100000"/>
              </a:lnSpc>
            </a:pP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2.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Dada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lista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de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notas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de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alunos,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calcule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média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apenas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dos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6A9954"/>
                </a:solidFill>
                <a:latin typeface="Consolas"/>
                <a:cs typeface="Consolas"/>
              </a:rPr>
              <a:t>alunos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que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tiraram</a:t>
            </a:r>
            <a:r>
              <a:rPr sz="2800" spc="-7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nota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maior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ou</a:t>
            </a:r>
            <a:r>
              <a:rPr sz="2800" spc="-7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igual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solidFill>
                  <a:srgbClr val="6A9954"/>
                </a:solidFill>
                <a:latin typeface="Consolas"/>
                <a:cs typeface="Consolas"/>
              </a:rPr>
              <a:t>7</a:t>
            </a:r>
            <a:endParaRPr sz="2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800">
              <a:latin typeface="Consolas"/>
              <a:cs typeface="Consolas"/>
            </a:endParaRPr>
          </a:p>
          <a:p>
            <a:pPr marL="222250">
              <a:lnSpc>
                <a:spcPct val="100000"/>
              </a:lnSpc>
            </a:pP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notas</a:t>
            </a:r>
            <a:r>
              <a:rPr sz="2800" spc="-75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28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[</a:t>
            </a:r>
            <a:r>
              <a:rPr sz="2800" dirty="0">
                <a:solidFill>
                  <a:srgbClr val="B5CEA8"/>
                </a:solidFill>
                <a:latin typeface="Consolas"/>
                <a:cs typeface="Consolas"/>
              </a:rPr>
              <a:t>5.5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6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B5CEA8"/>
                </a:solidFill>
                <a:latin typeface="Consolas"/>
                <a:cs typeface="Consolas"/>
              </a:rPr>
              <a:t>8.2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7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B5CEA8"/>
                </a:solidFill>
                <a:latin typeface="Consolas"/>
                <a:cs typeface="Consolas"/>
              </a:rPr>
              <a:t>6.0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7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B5CEA8"/>
                </a:solidFill>
                <a:latin typeface="Consolas"/>
                <a:cs typeface="Consolas"/>
              </a:rPr>
              <a:t>7.0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6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B5CEA8"/>
                </a:solidFill>
                <a:latin typeface="Consolas"/>
                <a:cs typeface="Consolas"/>
              </a:rPr>
              <a:t>9.5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7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B5CEA8"/>
                </a:solidFill>
                <a:latin typeface="Consolas"/>
                <a:cs typeface="Consolas"/>
              </a:rPr>
              <a:t>3.0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7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spc="-20" dirty="0">
                <a:solidFill>
                  <a:srgbClr val="B5CEA8"/>
                </a:solidFill>
                <a:latin typeface="Consolas"/>
                <a:cs typeface="Consolas"/>
              </a:rPr>
              <a:t>7.5</a:t>
            </a:r>
            <a:r>
              <a:rPr sz="2800" spc="-20" dirty="0">
                <a:solidFill>
                  <a:srgbClr val="CCCCCC"/>
                </a:solidFill>
                <a:latin typeface="Consolas"/>
                <a:cs typeface="Consolas"/>
              </a:rPr>
              <a:t>]</a:t>
            </a:r>
            <a:endParaRPr sz="2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800">
              <a:latin typeface="Consolas"/>
              <a:cs typeface="Consolas"/>
            </a:endParaRPr>
          </a:p>
          <a:p>
            <a:pPr marL="222250">
              <a:lnSpc>
                <a:spcPct val="100000"/>
              </a:lnSpc>
            </a:pP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2800" spc="-8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Resultado</a:t>
            </a:r>
            <a:r>
              <a:rPr sz="2800" spc="-9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esperado:</a:t>
            </a:r>
            <a:r>
              <a:rPr sz="2800" spc="-8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média</a:t>
            </a:r>
            <a:r>
              <a:rPr sz="2800" spc="-7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das</a:t>
            </a:r>
            <a:r>
              <a:rPr sz="2800" spc="-8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notas</a:t>
            </a:r>
            <a:r>
              <a:rPr sz="2800" spc="-8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maiores</a:t>
            </a:r>
            <a:r>
              <a:rPr sz="2800" spc="-8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ou</a:t>
            </a:r>
            <a:r>
              <a:rPr sz="2800" spc="-7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iguais</a:t>
            </a:r>
            <a:r>
              <a:rPr sz="2800" spc="-8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solidFill>
                  <a:srgbClr val="6A9954"/>
                </a:solidFill>
                <a:latin typeface="Consolas"/>
                <a:cs typeface="Consolas"/>
              </a:rPr>
              <a:t>7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8E7E7-00A3-9836-3E4E-660F9A91D2BC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909319"/>
            <a:ext cx="1313306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9700" algn="l"/>
                <a:tab pos="5499100" algn="l"/>
              </a:tabLst>
            </a:pPr>
            <a:r>
              <a:rPr spc="-10" dirty="0"/>
              <a:t>Revisão</a:t>
            </a:r>
            <a:r>
              <a:rPr dirty="0"/>
              <a:t>	antes </a:t>
            </a:r>
            <a:r>
              <a:rPr spc="-25" dirty="0"/>
              <a:t>de</a:t>
            </a:r>
            <a:r>
              <a:rPr dirty="0"/>
              <a:t>	iniciar</a:t>
            </a:r>
            <a:r>
              <a:rPr spc="-10" dirty="0"/>
              <a:t> </a:t>
            </a:r>
            <a:r>
              <a:rPr dirty="0"/>
              <a:t>com as </a:t>
            </a:r>
            <a:r>
              <a:rPr spc="-10" dirty="0"/>
              <a:t>bibliotecas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0772" y="2311145"/>
            <a:ext cx="12627610" cy="296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Exercícios</a:t>
            </a:r>
            <a:endParaRPr sz="3600">
              <a:latin typeface="Arial MT"/>
              <a:cs typeface="Arial MT"/>
            </a:endParaRPr>
          </a:p>
          <a:p>
            <a:pPr marL="99060" marR="5080">
              <a:lnSpc>
                <a:spcPct val="100000"/>
              </a:lnSpc>
              <a:spcBef>
                <a:spcPts val="2000"/>
              </a:spcBef>
            </a:pP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3.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Escreva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uma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função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que</a:t>
            </a:r>
            <a:r>
              <a:rPr sz="2800" spc="-4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recebe</a:t>
            </a:r>
            <a:r>
              <a:rPr sz="2800" spc="-4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uma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lista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de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notas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e</a:t>
            </a:r>
            <a:r>
              <a:rPr sz="2800" spc="-4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6A9954"/>
                </a:solidFill>
                <a:latin typeface="Consolas"/>
                <a:cs typeface="Consolas"/>
              </a:rPr>
              <a:t>retorna: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2800" spc="-4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</a:t>
            </a:r>
            <a:r>
              <a:rPr sz="2800" spc="-4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média</a:t>
            </a:r>
            <a:r>
              <a:rPr sz="2800" spc="-4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e</a:t>
            </a:r>
            <a:r>
              <a:rPr sz="2800" spc="-4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o</a:t>
            </a:r>
            <a:r>
              <a:rPr sz="2800" spc="-2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conceito</a:t>
            </a:r>
            <a:r>
              <a:rPr sz="2800" spc="-3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(A:</a:t>
            </a:r>
            <a:r>
              <a:rPr sz="2800" spc="-4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&gt;=</a:t>
            </a:r>
            <a:r>
              <a:rPr sz="2800" spc="-4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9,</a:t>
            </a:r>
            <a:r>
              <a:rPr sz="2800" spc="-4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B:</a:t>
            </a:r>
            <a:r>
              <a:rPr sz="2800" spc="-2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&gt;=</a:t>
            </a:r>
            <a:r>
              <a:rPr sz="2800" spc="-3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7,</a:t>
            </a:r>
            <a:r>
              <a:rPr sz="2800" spc="-2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C:</a:t>
            </a:r>
            <a:r>
              <a:rPr sz="2800" spc="-4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&gt;=</a:t>
            </a:r>
            <a:r>
              <a:rPr sz="2800" spc="-4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5,</a:t>
            </a:r>
            <a:r>
              <a:rPr sz="2800" spc="-4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D:</a:t>
            </a:r>
            <a:r>
              <a:rPr sz="2800" spc="-3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spc="-25" dirty="0">
                <a:solidFill>
                  <a:srgbClr val="6A9954"/>
                </a:solidFill>
                <a:latin typeface="Consolas"/>
                <a:cs typeface="Consolas"/>
              </a:rPr>
              <a:t>&lt;5)</a:t>
            </a:r>
            <a:endParaRPr sz="2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800">
              <a:latin typeface="Consolas"/>
              <a:cs typeface="Consolas"/>
            </a:endParaRPr>
          </a:p>
          <a:p>
            <a:pPr marL="879475" marR="6270625" indent="-781050">
              <a:lnSpc>
                <a:spcPct val="100000"/>
              </a:lnSpc>
            </a:pPr>
            <a:r>
              <a:rPr sz="2800" dirty="0">
                <a:solidFill>
                  <a:srgbClr val="559CD5"/>
                </a:solidFill>
                <a:latin typeface="Consolas"/>
                <a:cs typeface="Consolas"/>
              </a:rPr>
              <a:t>def</a:t>
            </a:r>
            <a:r>
              <a:rPr sz="2800" spc="-6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analisar_notas</a:t>
            </a:r>
            <a:r>
              <a:rPr sz="2800" spc="-10" dirty="0">
                <a:solidFill>
                  <a:srgbClr val="CCCCCC"/>
                </a:solidFill>
                <a:latin typeface="Consolas"/>
                <a:cs typeface="Consolas"/>
              </a:rPr>
              <a:t>(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lista_notas</a:t>
            </a:r>
            <a:r>
              <a:rPr sz="2800" spc="-10" dirty="0">
                <a:solidFill>
                  <a:srgbClr val="CCCCCC"/>
                </a:solidFill>
                <a:latin typeface="Consolas"/>
                <a:cs typeface="Consolas"/>
              </a:rPr>
              <a:t>): </a:t>
            </a:r>
            <a:r>
              <a:rPr sz="2800" spc="-20" dirty="0">
                <a:solidFill>
                  <a:srgbClr val="C585C0"/>
                </a:solidFill>
                <a:latin typeface="Consolas"/>
                <a:cs typeface="Consolas"/>
              </a:rPr>
              <a:t>pass</a:t>
            </a:r>
            <a:endParaRPr sz="2800">
              <a:latin typeface="Consolas"/>
              <a:cs typeface="Consola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18286" y="5778941"/>
          <a:ext cx="7872092" cy="781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9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0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05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R="57785" algn="ctr">
                        <a:lnSpc>
                          <a:spcPts val="2635"/>
                        </a:lnSpc>
                      </a:pPr>
                      <a:r>
                        <a:rPr sz="2800" spc="-5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635"/>
                        </a:lnSpc>
                      </a:pPr>
                      <a:r>
                        <a:rPr sz="2800" spc="-1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Exemplo: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R="57785" algn="ctr">
                        <a:lnSpc>
                          <a:spcPts val="2920"/>
                        </a:lnSpc>
                      </a:pPr>
                      <a:r>
                        <a:rPr sz="2800" spc="-5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920"/>
                        </a:lnSpc>
                      </a:pPr>
                      <a:r>
                        <a:rPr sz="2800" spc="-1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analisar_notas([7,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920"/>
                        </a:lnSpc>
                      </a:pPr>
                      <a:r>
                        <a:rPr sz="2800" spc="-25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8,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920"/>
                        </a:lnSpc>
                      </a:pPr>
                      <a:r>
                        <a:rPr sz="2800" spc="-25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9])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920"/>
                        </a:lnSpc>
                      </a:pPr>
                      <a:r>
                        <a:rPr sz="2800" spc="-5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→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920"/>
                        </a:lnSpc>
                      </a:pPr>
                      <a:r>
                        <a:rPr sz="2800" spc="-1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(8.0,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920"/>
                        </a:lnSpc>
                      </a:pPr>
                      <a:r>
                        <a:rPr sz="2800" spc="-2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"B")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57200" y="7055494"/>
            <a:ext cx="13909675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4.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Dada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lista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de</a:t>
            </a:r>
            <a:r>
              <a:rPr sz="2800" spc="-4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notas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de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alunos,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calcule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média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apenas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dos</a:t>
            </a:r>
            <a:r>
              <a:rPr sz="2800" spc="-5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6A9954"/>
                </a:solidFill>
                <a:latin typeface="Consolas"/>
                <a:cs typeface="Consolas"/>
              </a:rPr>
              <a:t>alunos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que tiraram</a:t>
            </a:r>
            <a:r>
              <a:rPr sz="2800" spc="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nota maior</a:t>
            </a:r>
            <a:r>
              <a:rPr sz="2800" spc="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ou igual</a:t>
            </a:r>
            <a:r>
              <a:rPr sz="2800" spc="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</a:t>
            </a:r>
            <a:r>
              <a:rPr sz="2800" spc="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solidFill>
                  <a:srgbClr val="6A9954"/>
                </a:solidFill>
                <a:latin typeface="Consolas"/>
                <a:cs typeface="Consolas"/>
              </a:rPr>
              <a:t>7</a:t>
            </a:r>
            <a:endParaRPr sz="2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notas</a:t>
            </a:r>
            <a:r>
              <a:rPr sz="2800" spc="-85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2800" spc="-6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[</a:t>
            </a:r>
            <a:r>
              <a:rPr sz="2800" dirty="0">
                <a:solidFill>
                  <a:srgbClr val="B5CEA8"/>
                </a:solidFill>
                <a:latin typeface="Consolas"/>
                <a:cs typeface="Consolas"/>
              </a:rPr>
              <a:t>5.5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6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B5CEA8"/>
                </a:solidFill>
                <a:latin typeface="Consolas"/>
                <a:cs typeface="Consolas"/>
              </a:rPr>
              <a:t>8.2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7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B5CEA8"/>
                </a:solidFill>
                <a:latin typeface="Consolas"/>
                <a:cs typeface="Consolas"/>
              </a:rPr>
              <a:t>6.0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7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B5CEA8"/>
                </a:solidFill>
                <a:latin typeface="Consolas"/>
                <a:cs typeface="Consolas"/>
              </a:rPr>
              <a:t>7.0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6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B5CEA8"/>
                </a:solidFill>
                <a:latin typeface="Consolas"/>
                <a:cs typeface="Consolas"/>
              </a:rPr>
              <a:t>9.5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7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B5CEA8"/>
                </a:solidFill>
                <a:latin typeface="Consolas"/>
                <a:cs typeface="Consolas"/>
              </a:rPr>
              <a:t>3.0</a:t>
            </a:r>
            <a:r>
              <a:rPr sz="28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800" spc="-7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800" spc="-20" dirty="0">
                <a:solidFill>
                  <a:srgbClr val="B5CEA8"/>
                </a:solidFill>
                <a:latin typeface="Consolas"/>
                <a:cs typeface="Consolas"/>
              </a:rPr>
              <a:t>7.5</a:t>
            </a:r>
            <a:r>
              <a:rPr sz="2800" spc="-20" dirty="0">
                <a:solidFill>
                  <a:srgbClr val="CCCCCC"/>
                </a:solidFill>
                <a:latin typeface="Consolas"/>
                <a:cs typeface="Consolas"/>
              </a:rPr>
              <a:t>]</a:t>
            </a:r>
            <a:endParaRPr sz="2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2800" spc="-7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Resultado</a:t>
            </a:r>
            <a:r>
              <a:rPr sz="2800" spc="-7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esperado: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média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das</a:t>
            </a:r>
            <a:r>
              <a:rPr sz="2800" spc="-7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notas</a:t>
            </a:r>
            <a:r>
              <a:rPr sz="2800" spc="-7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maiores</a:t>
            </a:r>
            <a:r>
              <a:rPr sz="2800" spc="-7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ou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iguais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</a:t>
            </a:r>
            <a:r>
              <a:rPr sz="2800" spc="-7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solidFill>
                  <a:srgbClr val="6A9954"/>
                </a:solidFill>
                <a:latin typeface="Consolas"/>
                <a:cs typeface="Consolas"/>
              </a:rPr>
              <a:t>7</a:t>
            </a:r>
            <a:endParaRPr sz="2800" dirty="0">
              <a:latin typeface="Consolas"/>
              <a:cs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F548E-8B32-9326-99EF-709EF4BBFDAC}"/>
              </a:ext>
            </a:extLst>
          </p:cNvPr>
          <p:cNvSpPr txBox="1"/>
          <p:nvPr/>
        </p:nvSpPr>
        <p:spPr>
          <a:xfrm>
            <a:off x="14706600" y="7055494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909319"/>
            <a:ext cx="1313306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9700" algn="l"/>
                <a:tab pos="5499100" algn="l"/>
              </a:tabLst>
            </a:pPr>
            <a:r>
              <a:rPr spc="-10" dirty="0"/>
              <a:t>Revisão</a:t>
            </a:r>
            <a:r>
              <a:rPr dirty="0"/>
              <a:t>	antes </a:t>
            </a:r>
            <a:r>
              <a:rPr spc="-25" dirty="0"/>
              <a:t>de</a:t>
            </a:r>
            <a:r>
              <a:rPr dirty="0"/>
              <a:t>	iniciar</a:t>
            </a:r>
            <a:r>
              <a:rPr spc="-10" dirty="0"/>
              <a:t> </a:t>
            </a:r>
            <a:r>
              <a:rPr dirty="0"/>
              <a:t>com as </a:t>
            </a:r>
            <a:r>
              <a:rPr spc="-10" dirty="0"/>
              <a:t>bibliotecas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0772" y="2311145"/>
            <a:ext cx="14172565" cy="4246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Exercícios</a:t>
            </a:r>
            <a:endParaRPr sz="3600">
              <a:latin typeface="Arial MT"/>
              <a:cs typeface="Arial MT"/>
            </a:endParaRPr>
          </a:p>
          <a:p>
            <a:pPr marL="99060" marR="5080">
              <a:lnSpc>
                <a:spcPct val="100000"/>
              </a:lnSpc>
              <a:spcBef>
                <a:spcPts val="2000"/>
              </a:spcBef>
            </a:pP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2800" spc="-8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5.</a:t>
            </a:r>
            <a:r>
              <a:rPr sz="2800" spc="-8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Dada</a:t>
            </a:r>
            <a:r>
              <a:rPr sz="2800" spc="-8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uma</a:t>
            </a:r>
            <a:r>
              <a:rPr sz="2800" spc="-8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lista</a:t>
            </a:r>
            <a:r>
              <a:rPr sz="2800" spc="-8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de</a:t>
            </a:r>
            <a:r>
              <a:rPr sz="2800" spc="-8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dicionários</a:t>
            </a:r>
            <a:r>
              <a:rPr sz="2800" spc="-8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com</a:t>
            </a:r>
            <a:r>
              <a:rPr sz="2800" spc="-8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informações</a:t>
            </a:r>
            <a:r>
              <a:rPr sz="2800" spc="-8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de</a:t>
            </a:r>
            <a:r>
              <a:rPr sz="2800" spc="-9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pessoas,</a:t>
            </a:r>
            <a:r>
              <a:rPr sz="2800" spc="-7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calcule</a:t>
            </a:r>
            <a:r>
              <a:rPr sz="2800" spc="-8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solidFill>
                  <a:srgbClr val="6A9954"/>
                </a:solidFill>
                <a:latin typeface="Consolas"/>
                <a:cs typeface="Consolas"/>
              </a:rPr>
              <a:t>a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média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das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6A9954"/>
                </a:solidFill>
                <a:latin typeface="Consolas"/>
                <a:cs typeface="Consolas"/>
              </a:rPr>
              <a:t>idades.</a:t>
            </a:r>
            <a:endParaRPr sz="2800">
              <a:latin typeface="Consolas"/>
              <a:cs typeface="Consolas"/>
            </a:endParaRPr>
          </a:p>
          <a:p>
            <a:pPr marL="99060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solidFill>
                  <a:srgbClr val="9CDCFD"/>
                </a:solidFill>
                <a:latin typeface="Consolas"/>
                <a:cs typeface="Consolas"/>
              </a:rPr>
              <a:t>dados</a:t>
            </a:r>
            <a:r>
              <a:rPr sz="2400" spc="-3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24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400" spc="-50" dirty="0">
                <a:solidFill>
                  <a:srgbClr val="CCCCCC"/>
                </a:solidFill>
                <a:latin typeface="Consolas"/>
                <a:cs typeface="Consolas"/>
              </a:rPr>
              <a:t>[</a:t>
            </a:r>
            <a:endParaRPr sz="2400">
              <a:latin typeface="Consolas"/>
              <a:cs typeface="Consolas"/>
            </a:endParaRPr>
          </a:p>
          <a:p>
            <a:pPr marL="77152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{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"nome"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:</a:t>
            </a:r>
            <a:r>
              <a:rPr sz="2400" spc="-5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"Ana"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400" spc="-5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"idade"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:</a:t>
            </a:r>
            <a:r>
              <a:rPr sz="2400" spc="-6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spc="-20" dirty="0">
                <a:solidFill>
                  <a:srgbClr val="B5CEA8"/>
                </a:solidFill>
                <a:latin typeface="Consolas"/>
                <a:cs typeface="Consolas"/>
              </a:rPr>
              <a:t>23</a:t>
            </a:r>
            <a:r>
              <a:rPr sz="2400" spc="-20" dirty="0">
                <a:solidFill>
                  <a:srgbClr val="CCCCCC"/>
                </a:solidFill>
                <a:latin typeface="Consolas"/>
                <a:cs typeface="Consolas"/>
              </a:rPr>
              <a:t>},</a:t>
            </a:r>
            <a:endParaRPr sz="2400">
              <a:latin typeface="Consolas"/>
              <a:cs typeface="Consolas"/>
            </a:endParaRPr>
          </a:p>
          <a:p>
            <a:pPr marL="771525">
              <a:lnSpc>
                <a:spcPct val="100000"/>
              </a:lnSpc>
            </a:pP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{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"nome"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:</a:t>
            </a:r>
            <a:r>
              <a:rPr sz="2400" spc="-6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"Bruno"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400" spc="-6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"idade"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:</a:t>
            </a:r>
            <a:r>
              <a:rPr sz="2400" spc="-6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spc="-20" dirty="0">
                <a:solidFill>
                  <a:srgbClr val="B5CEA8"/>
                </a:solidFill>
                <a:latin typeface="Consolas"/>
                <a:cs typeface="Consolas"/>
              </a:rPr>
              <a:t>25</a:t>
            </a:r>
            <a:r>
              <a:rPr sz="2400" spc="-20" dirty="0">
                <a:solidFill>
                  <a:srgbClr val="CCCCCC"/>
                </a:solidFill>
                <a:latin typeface="Consolas"/>
                <a:cs typeface="Consolas"/>
              </a:rPr>
              <a:t>},</a:t>
            </a:r>
            <a:endParaRPr sz="2400">
              <a:latin typeface="Consolas"/>
              <a:cs typeface="Consolas"/>
            </a:endParaRPr>
          </a:p>
          <a:p>
            <a:pPr marL="771525">
              <a:lnSpc>
                <a:spcPct val="100000"/>
              </a:lnSpc>
            </a:pP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{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"nome"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:</a:t>
            </a:r>
            <a:r>
              <a:rPr sz="2400" spc="-6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"Carlos"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400" spc="-7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"idade"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:</a:t>
            </a:r>
            <a:r>
              <a:rPr sz="2400" spc="-7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spc="-20" dirty="0">
                <a:solidFill>
                  <a:srgbClr val="B5CEA8"/>
                </a:solidFill>
                <a:latin typeface="Consolas"/>
                <a:cs typeface="Consolas"/>
              </a:rPr>
              <a:t>30</a:t>
            </a:r>
            <a:r>
              <a:rPr sz="2400" spc="-20" dirty="0">
                <a:solidFill>
                  <a:srgbClr val="CCCCCC"/>
                </a:solidFill>
                <a:latin typeface="Consolas"/>
                <a:cs typeface="Consolas"/>
              </a:rPr>
              <a:t>},</a:t>
            </a:r>
            <a:endParaRPr sz="2400">
              <a:latin typeface="Consolas"/>
              <a:cs typeface="Consolas"/>
            </a:endParaRPr>
          </a:p>
          <a:p>
            <a:pPr marL="771525">
              <a:lnSpc>
                <a:spcPct val="100000"/>
              </a:lnSpc>
            </a:pP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{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"nome"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:</a:t>
            </a:r>
            <a:r>
              <a:rPr sz="2400" spc="-6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"Diana"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2400" spc="-6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"idade"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:</a:t>
            </a:r>
            <a:r>
              <a:rPr sz="2400" spc="-6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spc="-25" dirty="0">
                <a:solidFill>
                  <a:srgbClr val="B5CEA8"/>
                </a:solidFill>
                <a:latin typeface="Consolas"/>
                <a:cs typeface="Consolas"/>
              </a:rPr>
              <a:t>20</a:t>
            </a:r>
            <a:r>
              <a:rPr sz="2400" spc="-25" dirty="0">
                <a:solidFill>
                  <a:srgbClr val="CCCCCC"/>
                </a:solidFill>
                <a:latin typeface="Consolas"/>
                <a:cs typeface="Consolas"/>
              </a:rPr>
              <a:t>}</a:t>
            </a:r>
            <a:endParaRPr sz="2400">
              <a:latin typeface="Consolas"/>
              <a:cs typeface="Consolas"/>
            </a:endParaRPr>
          </a:p>
          <a:p>
            <a:pPr marL="99060">
              <a:lnSpc>
                <a:spcPct val="100000"/>
              </a:lnSpc>
            </a:pPr>
            <a:r>
              <a:rPr sz="2400" spc="-50" dirty="0">
                <a:solidFill>
                  <a:srgbClr val="CCCCCC"/>
                </a:solidFill>
                <a:latin typeface="Consolas"/>
                <a:cs typeface="Consolas"/>
              </a:rPr>
              <a:t>]</a:t>
            </a:r>
            <a:endParaRPr sz="2400">
              <a:latin typeface="Consolas"/>
              <a:cs typeface="Consolas"/>
            </a:endParaRPr>
          </a:p>
          <a:p>
            <a:pPr marL="99060">
              <a:lnSpc>
                <a:spcPct val="100000"/>
              </a:lnSpc>
            </a:pP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#</a:t>
            </a:r>
            <a:r>
              <a:rPr sz="2400" spc="-5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Resultado</a:t>
            </a:r>
            <a:r>
              <a:rPr sz="2400" spc="-4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esperado:</a:t>
            </a:r>
            <a:r>
              <a:rPr sz="2400" spc="-4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média</a:t>
            </a:r>
            <a:r>
              <a:rPr sz="2400" spc="-4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das</a:t>
            </a:r>
            <a:r>
              <a:rPr sz="2400" spc="-5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CCCCC"/>
                </a:solidFill>
                <a:latin typeface="Consolas"/>
                <a:cs typeface="Consolas"/>
              </a:rPr>
              <a:t>idades</a:t>
            </a:r>
            <a:r>
              <a:rPr sz="2400" spc="-4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CCCCCC"/>
                </a:solidFill>
                <a:latin typeface="Consolas"/>
                <a:cs typeface="Consolas"/>
              </a:rPr>
              <a:t>(24.5)</a:t>
            </a:r>
            <a:endParaRPr sz="2400">
              <a:latin typeface="Consolas"/>
              <a:cs typeface="Consola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18286" y="7059355"/>
          <a:ext cx="7876537" cy="781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0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1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18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R="57785" algn="ctr">
                        <a:lnSpc>
                          <a:spcPts val="2635"/>
                        </a:lnSpc>
                      </a:pPr>
                      <a:r>
                        <a:rPr sz="2800" spc="-5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635"/>
                        </a:lnSpc>
                      </a:pPr>
                      <a:r>
                        <a:rPr sz="2800" spc="-1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Exemplo: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R="57785" algn="ctr">
                        <a:lnSpc>
                          <a:spcPts val="2920"/>
                        </a:lnSpc>
                      </a:pPr>
                      <a:r>
                        <a:rPr sz="2800" spc="-5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#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920"/>
                        </a:lnSpc>
                      </a:pPr>
                      <a:r>
                        <a:rPr sz="2800" spc="-1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analisar_notas([7,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2920"/>
                        </a:lnSpc>
                      </a:pPr>
                      <a:r>
                        <a:rPr sz="2800" spc="-25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8,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920"/>
                        </a:lnSpc>
                      </a:pPr>
                      <a:r>
                        <a:rPr sz="2800" spc="-25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9])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2920"/>
                        </a:lnSpc>
                      </a:pPr>
                      <a:r>
                        <a:rPr sz="2800" spc="-5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→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920"/>
                        </a:lnSpc>
                      </a:pPr>
                      <a:r>
                        <a:rPr sz="2800" spc="-1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(8.0,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2920"/>
                        </a:lnSpc>
                      </a:pPr>
                      <a:r>
                        <a:rPr sz="2800" spc="-20" dirty="0">
                          <a:solidFill>
                            <a:srgbClr val="6A9954"/>
                          </a:solidFill>
                          <a:latin typeface="Consolas"/>
                          <a:cs typeface="Consolas"/>
                        </a:rPr>
                        <a:t>"B")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37336" y="8207502"/>
            <a:ext cx="1369441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2800" spc="-7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6.</a:t>
            </a:r>
            <a:r>
              <a:rPr sz="2800" spc="-7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partir</a:t>
            </a:r>
            <a:r>
              <a:rPr sz="2800" spc="-7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da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mesma</a:t>
            </a:r>
            <a:r>
              <a:rPr sz="2800" spc="-7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lista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acima,</a:t>
            </a:r>
            <a:r>
              <a:rPr sz="2800" spc="-7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filtre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apenas</a:t>
            </a:r>
            <a:r>
              <a:rPr sz="2800" spc="-6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as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pessoas</a:t>
            </a:r>
            <a:r>
              <a:rPr sz="2800" spc="-7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com</a:t>
            </a:r>
            <a:r>
              <a:rPr sz="2800" spc="-6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spc="-20" dirty="0">
                <a:solidFill>
                  <a:srgbClr val="6A9954"/>
                </a:solidFill>
                <a:latin typeface="Consolas"/>
                <a:cs typeface="Consolas"/>
              </a:rPr>
              <a:t>idade </a:t>
            </a:r>
            <a:r>
              <a:rPr sz="2800" dirty="0">
                <a:solidFill>
                  <a:srgbClr val="6A9954"/>
                </a:solidFill>
                <a:latin typeface="Consolas"/>
                <a:cs typeface="Consolas"/>
              </a:rPr>
              <a:t>acima de</a:t>
            </a:r>
            <a:r>
              <a:rPr sz="2800" spc="-1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2800" spc="-25" dirty="0">
                <a:solidFill>
                  <a:srgbClr val="6A9954"/>
                </a:solidFill>
                <a:latin typeface="Consolas"/>
                <a:cs typeface="Consolas"/>
              </a:rPr>
              <a:t>24.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81DB6-BC1A-1832-C130-2118C0F95342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59" y="733044"/>
            <a:ext cx="1765553" cy="14409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6905" algn="l"/>
                <a:tab pos="5337175" algn="l"/>
                <a:tab pos="6288405" algn="l"/>
              </a:tabLst>
            </a:pPr>
            <a:r>
              <a:rPr spc="-25" dirty="0"/>
              <a:t>1.</a:t>
            </a:r>
            <a:r>
              <a:rPr dirty="0"/>
              <a:t>	</a:t>
            </a:r>
            <a:r>
              <a:rPr spc="-10" dirty="0"/>
              <a:t>Introdução</a:t>
            </a:r>
            <a:r>
              <a:rPr dirty="0"/>
              <a:t>	</a:t>
            </a:r>
            <a:r>
              <a:rPr spc="-25" dirty="0"/>
              <a:t>ao</a:t>
            </a:r>
            <a:r>
              <a:rPr dirty="0"/>
              <a:t>	</a:t>
            </a:r>
            <a:r>
              <a:rPr spc="-10" dirty="0"/>
              <a:t>Pandas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108" y="2197607"/>
            <a:ext cx="1177290" cy="9608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26032" y="2311145"/>
            <a:ext cx="16025494" cy="441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76630" indent="75374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Introdução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Conceitual:</a:t>
            </a:r>
            <a:r>
              <a:rPr sz="3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Como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Pandas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interpreta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organiza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os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dados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Estruturas de dados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poderosas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 flexíveis (Series 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DataFrames)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pandas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biblioteca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Python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projetada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manipulação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análise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de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dados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tabulares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rotulados.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Ele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das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ferramentas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mais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poderosas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na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ciência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dados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por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permitir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trabalhar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dados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estruturados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forma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eficiente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intuitiva,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muito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parecido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fazemos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em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planilhas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(como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Excel)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ou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tabelas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em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bancos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dados.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6864E-66FD-8329-0CF5-42D5DF1F5BB1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59" y="733044"/>
            <a:ext cx="1765553" cy="14409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6905" algn="l"/>
                <a:tab pos="5337175" algn="l"/>
                <a:tab pos="6288405" algn="l"/>
              </a:tabLst>
            </a:pPr>
            <a:r>
              <a:rPr spc="-25" dirty="0"/>
              <a:t>1.</a:t>
            </a:r>
            <a:r>
              <a:rPr dirty="0"/>
              <a:t>	</a:t>
            </a:r>
            <a:r>
              <a:rPr spc="-10" dirty="0"/>
              <a:t>Introdução</a:t>
            </a:r>
            <a:r>
              <a:rPr dirty="0"/>
              <a:t>	</a:t>
            </a:r>
            <a:r>
              <a:rPr spc="-25" dirty="0"/>
              <a:t>ao</a:t>
            </a:r>
            <a:r>
              <a:rPr dirty="0"/>
              <a:t>	</a:t>
            </a:r>
            <a:r>
              <a:rPr spc="-10" dirty="0"/>
              <a:t>Pandas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3400" y="2343053"/>
            <a:ext cx="15700375" cy="613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pd.Series()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é?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serie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estrutura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pandas,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armazena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sequência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dados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rótulos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(índices).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Ela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semelhante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lista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ou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vetor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NumPy,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mas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vantagem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possuir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índice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explícito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funcionalidades avançadas.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 dirty="0">
              <a:latin typeface="Arial MT"/>
              <a:cs typeface="Arial MT"/>
            </a:endParaRPr>
          </a:p>
          <a:p>
            <a:pPr marL="766445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Sintaxe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básica: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3600" dirty="0">
              <a:latin typeface="Arial MT"/>
              <a:cs typeface="Arial MT"/>
            </a:endParaRPr>
          </a:p>
          <a:p>
            <a:pPr marL="38100" marR="1863725">
              <a:lnSpc>
                <a:spcPct val="100000"/>
              </a:lnSpc>
            </a:pPr>
            <a:r>
              <a:rPr sz="3600" dirty="0">
                <a:solidFill>
                  <a:srgbClr val="CCCCCC"/>
                </a:solidFill>
                <a:latin typeface="Consolas"/>
                <a:cs typeface="Consolas"/>
              </a:rPr>
              <a:t>pd.Series(</a:t>
            </a:r>
            <a:r>
              <a:rPr sz="3600" dirty="0">
                <a:solidFill>
                  <a:srgbClr val="9CDCFD"/>
                </a:solidFill>
                <a:latin typeface="Consolas"/>
                <a:cs typeface="Consolas"/>
              </a:rPr>
              <a:t>data</a:t>
            </a:r>
            <a:r>
              <a:rPr sz="3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600" dirty="0">
                <a:solidFill>
                  <a:srgbClr val="559CD5"/>
                </a:solidFill>
                <a:latin typeface="Consolas"/>
                <a:cs typeface="Consolas"/>
              </a:rPr>
              <a:t>None</a:t>
            </a:r>
            <a:r>
              <a:rPr sz="36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600" spc="-12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9CDCFD"/>
                </a:solidFill>
                <a:latin typeface="Consolas"/>
                <a:cs typeface="Consolas"/>
              </a:rPr>
              <a:t>index</a:t>
            </a:r>
            <a:r>
              <a:rPr sz="3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600" dirty="0">
                <a:solidFill>
                  <a:srgbClr val="559CD5"/>
                </a:solidFill>
                <a:latin typeface="Consolas"/>
                <a:cs typeface="Consolas"/>
              </a:rPr>
              <a:t>None</a:t>
            </a:r>
            <a:r>
              <a:rPr sz="36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600" spc="-12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9CDCFD"/>
                </a:solidFill>
                <a:latin typeface="Consolas"/>
                <a:cs typeface="Consolas"/>
              </a:rPr>
              <a:t>dtype</a:t>
            </a:r>
            <a:r>
              <a:rPr sz="3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600" dirty="0">
                <a:solidFill>
                  <a:srgbClr val="559CD5"/>
                </a:solidFill>
                <a:latin typeface="Consolas"/>
                <a:cs typeface="Consolas"/>
              </a:rPr>
              <a:t>None</a:t>
            </a:r>
            <a:r>
              <a:rPr sz="36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600" spc="-11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600" spc="-10" dirty="0">
                <a:solidFill>
                  <a:srgbClr val="9CDCFD"/>
                </a:solidFill>
                <a:latin typeface="Consolas"/>
                <a:cs typeface="Consolas"/>
              </a:rPr>
              <a:t>name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600" spc="-10" dirty="0">
                <a:solidFill>
                  <a:srgbClr val="559CD5"/>
                </a:solidFill>
                <a:latin typeface="Consolas"/>
                <a:cs typeface="Consolas"/>
              </a:rPr>
              <a:t>None</a:t>
            </a:r>
            <a:r>
              <a:rPr sz="3600" spc="-10" dirty="0">
                <a:solidFill>
                  <a:srgbClr val="CCCCCC"/>
                </a:solidFill>
                <a:latin typeface="Consolas"/>
                <a:cs typeface="Consolas"/>
              </a:rPr>
              <a:t>, </a:t>
            </a:r>
            <a:r>
              <a:rPr sz="3600" dirty="0">
                <a:solidFill>
                  <a:srgbClr val="9CDCFD"/>
                </a:solidFill>
                <a:latin typeface="Consolas"/>
                <a:cs typeface="Consolas"/>
              </a:rPr>
              <a:t>copy</a:t>
            </a:r>
            <a:r>
              <a:rPr sz="3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600" dirty="0">
                <a:solidFill>
                  <a:srgbClr val="559CD5"/>
                </a:solidFill>
                <a:latin typeface="Consolas"/>
                <a:cs typeface="Consolas"/>
              </a:rPr>
              <a:t>False</a:t>
            </a:r>
            <a:r>
              <a:rPr sz="36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600" spc="-10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600" spc="-10" dirty="0">
                <a:solidFill>
                  <a:srgbClr val="9CDCFD"/>
                </a:solidFill>
                <a:latin typeface="Consolas"/>
                <a:cs typeface="Consolas"/>
              </a:rPr>
              <a:t>fastpath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600" spc="-10" dirty="0">
                <a:solidFill>
                  <a:srgbClr val="559CD5"/>
                </a:solidFill>
                <a:latin typeface="Consolas"/>
                <a:cs typeface="Consolas"/>
              </a:rPr>
              <a:t>False</a:t>
            </a:r>
            <a:r>
              <a:rPr sz="3600" spc="-10" dirty="0">
                <a:solidFill>
                  <a:srgbClr val="CCCCCC"/>
                </a:solidFill>
                <a:latin typeface="Consolas"/>
                <a:cs typeface="Consolas"/>
              </a:rPr>
              <a:t>)</a:t>
            </a:r>
            <a:endParaRPr sz="3600" dirty="0">
              <a:latin typeface="Consolas"/>
              <a:cs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8224E-F116-88C5-DE22-A7A0587D4439}"/>
              </a:ext>
            </a:extLst>
          </p:cNvPr>
          <p:cNvSpPr txBox="1"/>
          <p:nvPr/>
        </p:nvSpPr>
        <p:spPr>
          <a:xfrm>
            <a:off x="15240000" y="7277100"/>
            <a:ext cx="29718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6905" algn="l"/>
                <a:tab pos="5337175" algn="l"/>
                <a:tab pos="6288405" algn="l"/>
              </a:tabLst>
            </a:pPr>
            <a:r>
              <a:rPr spc="-25" dirty="0"/>
              <a:t>1.</a:t>
            </a:r>
            <a:r>
              <a:rPr dirty="0"/>
              <a:t>	</a:t>
            </a:r>
            <a:r>
              <a:rPr spc="-10" dirty="0"/>
              <a:t>Introdução</a:t>
            </a:r>
            <a:r>
              <a:rPr dirty="0"/>
              <a:t>	</a:t>
            </a:r>
            <a:r>
              <a:rPr spc="-25" dirty="0"/>
              <a:t>ao</a:t>
            </a:r>
            <a:r>
              <a:rPr dirty="0"/>
              <a:t>	</a:t>
            </a:r>
            <a:r>
              <a:rPr spc="-10" dirty="0"/>
              <a:t>Pandas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" y="2197607"/>
            <a:ext cx="1177290" cy="9608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80361" y="2311145"/>
            <a:ext cx="6124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Parâmetros mais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importantes: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3272026"/>
            <a:ext cx="13681583" cy="50627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56174A-5794-0F70-3187-00EBF82712D4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59" y="733044"/>
            <a:ext cx="1765553" cy="14409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6905" algn="l"/>
                <a:tab pos="5337175" algn="l"/>
                <a:tab pos="6288405" algn="l"/>
              </a:tabLst>
            </a:pPr>
            <a:r>
              <a:rPr spc="-25" dirty="0"/>
              <a:t>1.</a:t>
            </a:r>
            <a:r>
              <a:rPr dirty="0"/>
              <a:t>	</a:t>
            </a:r>
            <a:r>
              <a:rPr spc="-10" dirty="0"/>
              <a:t>Introdução</a:t>
            </a:r>
            <a:r>
              <a:rPr dirty="0"/>
              <a:t>	</a:t>
            </a:r>
            <a:r>
              <a:rPr spc="-25" dirty="0"/>
              <a:t>ao</a:t>
            </a:r>
            <a:r>
              <a:rPr dirty="0"/>
              <a:t>	</a:t>
            </a:r>
            <a:r>
              <a:rPr spc="-10" dirty="0"/>
              <a:t>Pandas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108" y="6038088"/>
            <a:ext cx="1177290" cy="9608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3400" y="2384242"/>
            <a:ext cx="15700375" cy="613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pd.Series()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é?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serie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estrutura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pandas,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armazena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sequência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dados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rótulos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(índices).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Ela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é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semelhante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lista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ou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vetor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NumPy,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mas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vantagem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possuir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índice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explícito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funcionalidades avançadas.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 dirty="0">
              <a:latin typeface="Arial MT"/>
              <a:cs typeface="Arial MT"/>
            </a:endParaRPr>
          </a:p>
          <a:p>
            <a:pPr marL="766445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Sintaxe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básica: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3600" dirty="0">
              <a:latin typeface="Arial MT"/>
              <a:cs typeface="Arial MT"/>
            </a:endParaRPr>
          </a:p>
          <a:p>
            <a:pPr marL="38100" marR="1863725">
              <a:lnSpc>
                <a:spcPct val="100000"/>
              </a:lnSpc>
            </a:pPr>
            <a:r>
              <a:rPr sz="3600" dirty="0">
                <a:solidFill>
                  <a:srgbClr val="CCCCCC"/>
                </a:solidFill>
                <a:latin typeface="Consolas"/>
                <a:cs typeface="Consolas"/>
              </a:rPr>
              <a:t>pd.Series(</a:t>
            </a:r>
            <a:r>
              <a:rPr sz="3600" dirty="0">
                <a:solidFill>
                  <a:srgbClr val="9CDCFD"/>
                </a:solidFill>
                <a:latin typeface="Consolas"/>
                <a:cs typeface="Consolas"/>
              </a:rPr>
              <a:t>data</a:t>
            </a:r>
            <a:r>
              <a:rPr sz="3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600" dirty="0">
                <a:solidFill>
                  <a:srgbClr val="559CD5"/>
                </a:solidFill>
                <a:latin typeface="Consolas"/>
                <a:cs typeface="Consolas"/>
              </a:rPr>
              <a:t>None</a:t>
            </a:r>
            <a:r>
              <a:rPr sz="36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600" spc="-12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9CDCFD"/>
                </a:solidFill>
                <a:latin typeface="Consolas"/>
                <a:cs typeface="Consolas"/>
              </a:rPr>
              <a:t>index</a:t>
            </a:r>
            <a:r>
              <a:rPr sz="3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600" dirty="0">
                <a:solidFill>
                  <a:srgbClr val="559CD5"/>
                </a:solidFill>
                <a:latin typeface="Consolas"/>
                <a:cs typeface="Consolas"/>
              </a:rPr>
              <a:t>None</a:t>
            </a:r>
            <a:r>
              <a:rPr sz="36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600" spc="-12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9CDCFD"/>
                </a:solidFill>
                <a:latin typeface="Consolas"/>
                <a:cs typeface="Consolas"/>
              </a:rPr>
              <a:t>dtype</a:t>
            </a:r>
            <a:r>
              <a:rPr sz="3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600" dirty="0">
                <a:solidFill>
                  <a:srgbClr val="559CD5"/>
                </a:solidFill>
                <a:latin typeface="Consolas"/>
                <a:cs typeface="Consolas"/>
              </a:rPr>
              <a:t>None</a:t>
            </a:r>
            <a:r>
              <a:rPr sz="36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600" spc="-11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600" spc="-10" dirty="0">
                <a:solidFill>
                  <a:srgbClr val="9CDCFD"/>
                </a:solidFill>
                <a:latin typeface="Consolas"/>
                <a:cs typeface="Consolas"/>
              </a:rPr>
              <a:t>name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600" spc="-10" dirty="0">
                <a:solidFill>
                  <a:srgbClr val="559CD5"/>
                </a:solidFill>
                <a:latin typeface="Consolas"/>
                <a:cs typeface="Consolas"/>
              </a:rPr>
              <a:t>None</a:t>
            </a:r>
            <a:r>
              <a:rPr sz="3600" spc="-10" dirty="0">
                <a:solidFill>
                  <a:srgbClr val="CCCCCC"/>
                </a:solidFill>
                <a:latin typeface="Consolas"/>
                <a:cs typeface="Consolas"/>
              </a:rPr>
              <a:t>, </a:t>
            </a:r>
            <a:r>
              <a:rPr sz="3600" dirty="0">
                <a:solidFill>
                  <a:srgbClr val="9CDCFD"/>
                </a:solidFill>
                <a:latin typeface="Consolas"/>
                <a:cs typeface="Consolas"/>
              </a:rPr>
              <a:t>copy</a:t>
            </a:r>
            <a:r>
              <a:rPr sz="3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600" dirty="0">
                <a:solidFill>
                  <a:srgbClr val="559CD5"/>
                </a:solidFill>
                <a:latin typeface="Consolas"/>
                <a:cs typeface="Consolas"/>
              </a:rPr>
              <a:t>False</a:t>
            </a:r>
            <a:r>
              <a:rPr sz="36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600" spc="-105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600" spc="-10" dirty="0">
                <a:solidFill>
                  <a:srgbClr val="9CDCFD"/>
                </a:solidFill>
                <a:latin typeface="Consolas"/>
                <a:cs typeface="Consolas"/>
              </a:rPr>
              <a:t>fastpath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600" spc="-10" dirty="0">
                <a:solidFill>
                  <a:srgbClr val="559CD5"/>
                </a:solidFill>
                <a:latin typeface="Consolas"/>
                <a:cs typeface="Consolas"/>
              </a:rPr>
              <a:t>False</a:t>
            </a:r>
            <a:r>
              <a:rPr sz="3600" spc="-10" dirty="0">
                <a:solidFill>
                  <a:srgbClr val="CCCCCC"/>
                </a:solidFill>
                <a:latin typeface="Consolas"/>
                <a:cs typeface="Consolas"/>
              </a:rPr>
              <a:t>)</a:t>
            </a:r>
            <a:endParaRPr sz="3600" dirty="0">
              <a:latin typeface="Consolas"/>
              <a:cs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115F7-B1E4-6D4E-AA72-5C07E17F4FE0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59" y="733044"/>
            <a:ext cx="1765553" cy="14409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6905" algn="l"/>
                <a:tab pos="5337175" algn="l"/>
                <a:tab pos="6288405" algn="l"/>
              </a:tabLst>
            </a:pPr>
            <a:r>
              <a:rPr spc="-25" dirty="0"/>
              <a:t>1.</a:t>
            </a:r>
            <a:r>
              <a:rPr dirty="0"/>
              <a:t>	</a:t>
            </a:r>
            <a:r>
              <a:rPr spc="-10" dirty="0"/>
              <a:t>Introdução</a:t>
            </a:r>
            <a:r>
              <a:rPr dirty="0"/>
              <a:t>	</a:t>
            </a:r>
            <a:r>
              <a:rPr spc="-25" dirty="0"/>
              <a:t>ao</a:t>
            </a:r>
            <a:r>
              <a:rPr dirty="0"/>
              <a:t>	</a:t>
            </a:r>
            <a:r>
              <a:rPr spc="-10" dirty="0"/>
              <a:t>Pandas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55980" y="2311145"/>
            <a:ext cx="12576810" cy="604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Exemplos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práticos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3600" dirty="0">
              <a:latin typeface="Arial MT"/>
              <a:cs typeface="Arial MT"/>
            </a:endParaRPr>
          </a:p>
          <a:p>
            <a:pPr marL="765810" indent="-753110">
              <a:lnSpc>
                <a:spcPct val="100000"/>
              </a:lnSpc>
              <a:buAutoNum type="arabicPeriod"/>
              <a:tabLst>
                <a:tab pos="765810" algn="l"/>
              </a:tabLst>
            </a:pP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Criando</a:t>
            </a:r>
            <a:r>
              <a:rPr sz="3600" spc="-2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uma</a:t>
            </a:r>
            <a:r>
              <a:rPr sz="3600" spc="-1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Series</a:t>
            </a:r>
            <a:r>
              <a:rPr sz="3600" spc="-3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a</a:t>
            </a:r>
            <a:r>
              <a:rPr sz="3600" spc="-3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partir</a:t>
            </a:r>
            <a:r>
              <a:rPr sz="3600" spc="-1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de</a:t>
            </a:r>
            <a:r>
              <a:rPr sz="3600" spc="-3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uma</a:t>
            </a:r>
            <a:r>
              <a:rPr sz="3600" spc="-10" dirty="0">
                <a:solidFill>
                  <a:srgbClr val="4EC8AF"/>
                </a:solidFill>
                <a:latin typeface="Consolas"/>
                <a:cs typeface="Consolas"/>
              </a:rPr>
              <a:t> lista</a:t>
            </a:r>
            <a:endParaRPr sz="3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4EC8AF"/>
              </a:buClr>
              <a:buFont typeface="Consolas"/>
              <a:buAutoNum type="arabicPeriod"/>
            </a:pPr>
            <a:endParaRPr sz="3600" dirty="0">
              <a:latin typeface="Consolas"/>
              <a:cs typeface="Consolas"/>
            </a:endParaRPr>
          </a:p>
          <a:p>
            <a:pPr marL="765810" indent="-75311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765810" algn="l"/>
              </a:tabLst>
            </a:pP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Definindo</a:t>
            </a:r>
            <a:r>
              <a:rPr sz="3600" spc="-4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um</a:t>
            </a:r>
            <a:r>
              <a:rPr sz="3600" spc="-2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índice</a:t>
            </a:r>
            <a:r>
              <a:rPr sz="3600" spc="-2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spc="-10" dirty="0">
                <a:solidFill>
                  <a:srgbClr val="4EC8AF"/>
                </a:solidFill>
                <a:latin typeface="Consolas"/>
                <a:cs typeface="Consolas"/>
              </a:rPr>
              <a:t>personalizado</a:t>
            </a:r>
            <a:endParaRPr sz="3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4EC8AF"/>
              </a:buClr>
              <a:buFont typeface="Consolas"/>
              <a:buAutoNum type="arabicPeriod"/>
            </a:pPr>
            <a:endParaRPr sz="3600" dirty="0">
              <a:latin typeface="Consolas"/>
              <a:cs typeface="Consolas"/>
            </a:endParaRPr>
          </a:p>
          <a:p>
            <a:pPr marL="765810" indent="-753110">
              <a:lnSpc>
                <a:spcPct val="100000"/>
              </a:lnSpc>
              <a:buAutoNum type="arabicPeriod"/>
              <a:tabLst>
                <a:tab pos="765810" algn="l"/>
              </a:tabLst>
            </a:pP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Criando</a:t>
            </a:r>
            <a:r>
              <a:rPr sz="3600" spc="-3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a</a:t>
            </a:r>
            <a:r>
              <a:rPr sz="3600" spc="-3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partir</a:t>
            </a:r>
            <a:r>
              <a:rPr sz="3600" spc="-1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de</a:t>
            </a:r>
            <a:r>
              <a:rPr sz="3600" spc="-1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um</a:t>
            </a:r>
            <a:r>
              <a:rPr sz="3600" spc="-1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spc="-10" dirty="0">
                <a:solidFill>
                  <a:srgbClr val="4EC8AF"/>
                </a:solidFill>
                <a:latin typeface="Consolas"/>
                <a:cs typeface="Consolas"/>
              </a:rPr>
              <a:t>dicionário</a:t>
            </a:r>
            <a:endParaRPr sz="3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4EC8AF"/>
              </a:buClr>
              <a:buFont typeface="Consolas"/>
              <a:buAutoNum type="arabicPeriod"/>
            </a:pPr>
            <a:endParaRPr sz="3600" dirty="0">
              <a:latin typeface="Consolas"/>
              <a:cs typeface="Consolas"/>
            </a:endParaRPr>
          </a:p>
          <a:p>
            <a:pPr marL="765810" indent="-753110">
              <a:lnSpc>
                <a:spcPct val="100000"/>
              </a:lnSpc>
              <a:buAutoNum type="arabicPeriod"/>
              <a:tabLst>
                <a:tab pos="765810" algn="l"/>
              </a:tabLst>
            </a:pP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Criando</a:t>
            </a:r>
            <a:r>
              <a:rPr sz="3600" spc="-3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a</a:t>
            </a:r>
            <a:r>
              <a:rPr sz="3600" spc="-4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partir</a:t>
            </a:r>
            <a:r>
              <a:rPr sz="3600" spc="-2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de</a:t>
            </a:r>
            <a:r>
              <a:rPr sz="3600" spc="-1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um</a:t>
            </a:r>
            <a:r>
              <a:rPr sz="3600" spc="-2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valor</a:t>
            </a:r>
            <a:r>
              <a:rPr sz="3600" spc="-2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escalar</a:t>
            </a:r>
            <a:r>
              <a:rPr sz="3600" spc="-1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spc="-10" dirty="0">
                <a:solidFill>
                  <a:srgbClr val="4EC8AF"/>
                </a:solidFill>
                <a:latin typeface="Consolas"/>
                <a:cs typeface="Consolas"/>
              </a:rPr>
              <a:t>(repetido)</a:t>
            </a:r>
            <a:endParaRPr sz="3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4EC8AF"/>
              </a:buClr>
              <a:buFont typeface="Consolas"/>
              <a:buAutoNum type="arabicPeriod"/>
            </a:pPr>
            <a:endParaRPr sz="3600" dirty="0">
              <a:latin typeface="Consolas"/>
              <a:cs typeface="Consolas"/>
            </a:endParaRPr>
          </a:p>
          <a:p>
            <a:pPr marL="765810" indent="-753110">
              <a:lnSpc>
                <a:spcPct val="100000"/>
              </a:lnSpc>
              <a:buAutoNum type="arabicPeriod"/>
              <a:tabLst>
                <a:tab pos="765810" algn="l"/>
              </a:tabLst>
            </a:pP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Usando</a:t>
            </a:r>
            <a:r>
              <a:rPr sz="3600" spc="-4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o</a:t>
            </a:r>
            <a:r>
              <a:rPr sz="3600" spc="-3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parâmetro</a:t>
            </a:r>
            <a:r>
              <a:rPr sz="3600" spc="-7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dtype</a:t>
            </a:r>
            <a:r>
              <a:rPr sz="3600" spc="-2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4EC8AF"/>
                </a:solidFill>
                <a:latin typeface="Consolas"/>
                <a:cs typeface="Consolas"/>
              </a:rPr>
              <a:t>e</a:t>
            </a:r>
            <a:r>
              <a:rPr sz="3600" spc="-3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600" spc="-20" dirty="0">
                <a:solidFill>
                  <a:srgbClr val="4EC8AF"/>
                </a:solidFill>
                <a:latin typeface="Consolas"/>
                <a:cs typeface="Consolas"/>
              </a:rPr>
              <a:t>name</a:t>
            </a:r>
            <a:endParaRPr sz="3600" dirty="0">
              <a:latin typeface="Consolas"/>
              <a:cs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D2C30-5050-B59C-8E63-52EB0B997545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59" y="733044"/>
            <a:ext cx="1765553" cy="14409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6905" algn="l"/>
                <a:tab pos="5337175" algn="l"/>
                <a:tab pos="6288405" algn="l"/>
              </a:tabLst>
            </a:pPr>
            <a:r>
              <a:rPr spc="-25" dirty="0"/>
              <a:t>1.</a:t>
            </a:r>
            <a:r>
              <a:rPr dirty="0"/>
              <a:t>	</a:t>
            </a:r>
            <a:r>
              <a:rPr spc="-10" dirty="0"/>
              <a:t>Introdução</a:t>
            </a:r>
            <a:r>
              <a:rPr dirty="0"/>
              <a:t>	</a:t>
            </a:r>
            <a:r>
              <a:rPr spc="-25" dirty="0"/>
              <a:t>ao</a:t>
            </a:r>
            <a:r>
              <a:rPr dirty="0"/>
              <a:t>	</a:t>
            </a:r>
            <a:r>
              <a:rPr spc="-10" dirty="0"/>
              <a:t>Pandas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59" y="2197607"/>
            <a:ext cx="1177290" cy="9608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5980" y="2311145"/>
            <a:ext cx="15574644" cy="551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708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 é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DataFrame?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36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Um</a:t>
            </a:r>
            <a:r>
              <a:rPr sz="3600" spc="-6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DataFrame</a:t>
            </a:r>
            <a:r>
              <a:rPr sz="3600" spc="-6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é</a:t>
            </a:r>
            <a:r>
              <a:rPr sz="3600" spc="-5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a</a:t>
            </a:r>
            <a:r>
              <a:rPr sz="3600" spc="-5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estrutura</a:t>
            </a:r>
            <a:r>
              <a:rPr sz="3600" spc="-5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bidimensional</a:t>
            </a:r>
            <a:r>
              <a:rPr sz="3600" spc="-5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(tabela)</a:t>
            </a:r>
            <a:r>
              <a:rPr sz="360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principal</a:t>
            </a:r>
            <a:r>
              <a:rPr sz="3600" spc="-6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onsolas"/>
                <a:cs typeface="Consolas"/>
              </a:rPr>
              <a:t>do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pandas.</a:t>
            </a:r>
            <a:r>
              <a:rPr sz="3600" spc="-1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Ele</a:t>
            </a:r>
            <a:r>
              <a:rPr sz="3600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é</a:t>
            </a:r>
            <a:r>
              <a:rPr sz="3600" spc="-1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parecido</a:t>
            </a:r>
            <a:r>
              <a:rPr sz="3600" spc="-1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Consolas"/>
                <a:cs typeface="Consolas"/>
              </a:rPr>
              <a:t>com:</a:t>
            </a:r>
            <a:endParaRPr sz="3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3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planilha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Excel</a:t>
            </a:r>
            <a:endParaRPr sz="3600">
              <a:latin typeface="Arial MT"/>
              <a:cs typeface="Arial MT"/>
            </a:endParaRPr>
          </a:p>
          <a:p>
            <a:pPr marL="12700" marR="9196705">
              <a:lnSpc>
                <a:spcPct val="2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 tabela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banco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dados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matriz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rotulada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717B8F-FCBB-55C3-D4CF-7CDB3F4E64A1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59" y="733044"/>
            <a:ext cx="1765553" cy="14409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6905" algn="l"/>
                <a:tab pos="5337175" algn="l"/>
                <a:tab pos="6288405" algn="l"/>
              </a:tabLst>
            </a:pPr>
            <a:r>
              <a:rPr spc="-25" dirty="0"/>
              <a:t>1.</a:t>
            </a:r>
            <a:r>
              <a:rPr dirty="0"/>
              <a:t>	</a:t>
            </a:r>
            <a:r>
              <a:rPr spc="-10" dirty="0"/>
              <a:t>Introdução</a:t>
            </a:r>
            <a:r>
              <a:rPr dirty="0"/>
              <a:t>	</a:t>
            </a:r>
            <a:r>
              <a:rPr spc="-25" dirty="0"/>
              <a:t>ao</a:t>
            </a:r>
            <a:r>
              <a:rPr dirty="0"/>
              <a:t>	</a:t>
            </a:r>
            <a:r>
              <a:rPr spc="-10" dirty="0"/>
              <a:t>Pandas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59" y="5478779"/>
            <a:ext cx="1177290" cy="96088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6745" y="2350261"/>
            <a:ext cx="16362680" cy="4708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428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 é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DataFrame?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3600" dirty="0">
              <a:latin typeface="Arial MT"/>
              <a:cs typeface="Arial MT"/>
            </a:endParaRPr>
          </a:p>
          <a:p>
            <a:pPr marL="469900" marR="8509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Cada</a:t>
            </a:r>
            <a:r>
              <a:rPr sz="3600" spc="-2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coluna</a:t>
            </a:r>
            <a:r>
              <a:rPr sz="3600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de</a:t>
            </a:r>
            <a:r>
              <a:rPr sz="3600" spc="-1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um</a:t>
            </a:r>
            <a:r>
              <a:rPr sz="3600" spc="-7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DataFrame</a:t>
            </a:r>
            <a:r>
              <a:rPr sz="3600" spc="-3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é</a:t>
            </a:r>
            <a:r>
              <a:rPr sz="360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uma</a:t>
            </a:r>
            <a:r>
              <a:rPr sz="3600" spc="-2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Series,</a:t>
            </a:r>
            <a:r>
              <a:rPr sz="3600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e</a:t>
            </a:r>
            <a:r>
              <a:rPr sz="3600" spc="-1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você</a:t>
            </a:r>
            <a:r>
              <a:rPr sz="3600" spc="-2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pode</a:t>
            </a:r>
            <a:r>
              <a:rPr sz="3600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onsolas"/>
                <a:cs typeface="Consolas"/>
              </a:rPr>
              <a:t>trabalhar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com</a:t>
            </a:r>
            <a:r>
              <a:rPr sz="3600" spc="-1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elas</a:t>
            </a:r>
            <a:r>
              <a:rPr sz="3600" spc="-3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individualmente</a:t>
            </a:r>
            <a:r>
              <a:rPr sz="3600" spc="-3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ou</a:t>
            </a:r>
            <a:r>
              <a:rPr sz="3600" spc="-1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com</a:t>
            </a:r>
            <a:r>
              <a:rPr sz="3600" spc="-1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a</a:t>
            </a:r>
            <a:r>
              <a:rPr sz="3600" spc="-3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tabela</a:t>
            </a:r>
            <a:r>
              <a:rPr sz="3600" spc="-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inteira</a:t>
            </a:r>
            <a:r>
              <a:rPr sz="3600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de</a:t>
            </a:r>
            <a:r>
              <a:rPr sz="3600" spc="-10" dirty="0">
                <a:solidFill>
                  <a:srgbClr val="FFFFFF"/>
                </a:solidFill>
                <a:latin typeface="Consolas"/>
                <a:cs typeface="Consolas"/>
              </a:rPr>
              <a:t> forma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vetorial</a:t>
            </a:r>
            <a:r>
              <a:rPr sz="3600" spc="-2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dirty="0">
                <a:solidFill>
                  <a:srgbClr val="FFFFFF"/>
                </a:solidFill>
                <a:latin typeface="Consolas"/>
                <a:cs typeface="Consolas"/>
              </a:rPr>
              <a:t>e</a:t>
            </a:r>
            <a:r>
              <a:rPr sz="3600" spc="-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onsolas"/>
                <a:cs typeface="Consolas"/>
              </a:rPr>
              <a:t>poderosa.</a:t>
            </a:r>
            <a:endParaRPr sz="3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3600" dirty="0">
              <a:latin typeface="Consolas"/>
              <a:cs typeface="Consolas"/>
            </a:endParaRPr>
          </a:p>
          <a:p>
            <a:pPr marL="122428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Sintaxe: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pd.DataFrame()</a:t>
            </a:r>
            <a:endParaRPr sz="3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75"/>
              </a:spcBef>
            </a:pP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pd.DataFrame(</a:t>
            </a:r>
            <a:r>
              <a:rPr sz="3200" dirty="0">
                <a:solidFill>
                  <a:srgbClr val="9CDCFD"/>
                </a:solidFill>
                <a:latin typeface="Consolas"/>
                <a:cs typeface="Consolas"/>
              </a:rPr>
              <a:t>data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200" dirty="0">
                <a:solidFill>
                  <a:srgbClr val="559CD5"/>
                </a:solidFill>
                <a:latin typeface="Consolas"/>
                <a:cs typeface="Consolas"/>
              </a:rPr>
              <a:t>None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200" spc="-4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9CDCFD"/>
                </a:solidFill>
                <a:latin typeface="Consolas"/>
                <a:cs typeface="Consolas"/>
              </a:rPr>
              <a:t>index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200" dirty="0">
                <a:solidFill>
                  <a:srgbClr val="559CD5"/>
                </a:solidFill>
                <a:latin typeface="Consolas"/>
                <a:cs typeface="Consolas"/>
              </a:rPr>
              <a:t>None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200" spc="-3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9CDCFD"/>
                </a:solidFill>
                <a:latin typeface="Consolas"/>
                <a:cs typeface="Consolas"/>
              </a:rPr>
              <a:t>columns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200" dirty="0">
                <a:solidFill>
                  <a:srgbClr val="559CD5"/>
                </a:solidFill>
                <a:latin typeface="Consolas"/>
                <a:cs typeface="Consolas"/>
              </a:rPr>
              <a:t>None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200" spc="-2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9CDCFD"/>
                </a:solidFill>
                <a:latin typeface="Consolas"/>
                <a:cs typeface="Consolas"/>
              </a:rPr>
              <a:t>dtype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200" dirty="0">
                <a:solidFill>
                  <a:srgbClr val="559CD5"/>
                </a:solidFill>
                <a:latin typeface="Consolas"/>
                <a:cs typeface="Consolas"/>
              </a:rPr>
              <a:t>None</a:t>
            </a:r>
            <a:r>
              <a:rPr sz="3200" dirty="0">
                <a:solidFill>
                  <a:srgbClr val="CCCCCC"/>
                </a:solidFill>
                <a:latin typeface="Consolas"/>
                <a:cs typeface="Consolas"/>
              </a:rPr>
              <a:t>,</a:t>
            </a:r>
            <a:r>
              <a:rPr sz="3200" spc="-20" dirty="0">
                <a:solidFill>
                  <a:srgbClr val="CCCCCC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copy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200" spc="-10" dirty="0">
                <a:solidFill>
                  <a:srgbClr val="559CD5"/>
                </a:solidFill>
                <a:latin typeface="Consolas"/>
                <a:cs typeface="Consolas"/>
              </a:rPr>
              <a:t>False</a:t>
            </a:r>
            <a:r>
              <a:rPr sz="3200" spc="-10" dirty="0">
                <a:solidFill>
                  <a:srgbClr val="CCCCCC"/>
                </a:solidFill>
                <a:latin typeface="Consolas"/>
                <a:cs typeface="Consolas"/>
              </a:rPr>
              <a:t>)</a:t>
            </a:r>
            <a:endParaRPr sz="3200" dirty="0">
              <a:latin typeface="Consolas"/>
              <a:cs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FE6AB4-75F5-CDC0-9D91-A2278DEEAD6D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6905" algn="l"/>
                <a:tab pos="5337175" algn="l"/>
                <a:tab pos="6288405" algn="l"/>
              </a:tabLst>
            </a:pPr>
            <a:r>
              <a:rPr spc="-25" dirty="0"/>
              <a:t>1.</a:t>
            </a:r>
            <a:r>
              <a:rPr dirty="0"/>
              <a:t>	</a:t>
            </a:r>
            <a:r>
              <a:rPr spc="-10" dirty="0"/>
              <a:t>Introdução</a:t>
            </a:r>
            <a:r>
              <a:rPr dirty="0"/>
              <a:t>	</a:t>
            </a:r>
            <a:r>
              <a:rPr spc="-25" dirty="0"/>
              <a:t>ao</a:t>
            </a:r>
            <a:r>
              <a:rPr dirty="0"/>
              <a:t>	</a:t>
            </a:r>
            <a:r>
              <a:rPr spc="-10" dirty="0"/>
              <a:t>Pandas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5980" y="2300478"/>
            <a:ext cx="4577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Parâmetros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principais: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906" y="3490048"/>
            <a:ext cx="13706094" cy="60816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E720D9-356A-0B59-8555-BD1F71698EFB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59" y="733044"/>
            <a:ext cx="1765553" cy="14409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6905" algn="l"/>
                <a:tab pos="5337175" algn="l"/>
                <a:tab pos="6288405" algn="l"/>
              </a:tabLst>
            </a:pPr>
            <a:r>
              <a:rPr spc="-25" dirty="0"/>
              <a:t>1.</a:t>
            </a:r>
            <a:r>
              <a:rPr dirty="0"/>
              <a:t>	</a:t>
            </a:r>
            <a:r>
              <a:rPr spc="-10" dirty="0"/>
              <a:t>Introdução</a:t>
            </a:r>
            <a:r>
              <a:rPr dirty="0"/>
              <a:t>	</a:t>
            </a:r>
            <a:r>
              <a:rPr spc="-25" dirty="0"/>
              <a:t>ao</a:t>
            </a:r>
            <a:r>
              <a:rPr dirty="0"/>
              <a:t>	</a:t>
            </a:r>
            <a:r>
              <a:rPr spc="-10" dirty="0"/>
              <a:t>Pandas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855980" y="2300478"/>
            <a:ext cx="12142470" cy="62478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Parâmetros</a:t>
            </a:r>
            <a:r>
              <a:rPr spc="-30" dirty="0"/>
              <a:t> </a:t>
            </a:r>
            <a:r>
              <a:rPr spc="-10" dirty="0"/>
              <a:t>principais:</a:t>
            </a: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pc="-10" dirty="0"/>
          </a:p>
          <a:p>
            <a:pPr marL="767080">
              <a:lnSpc>
                <a:spcPct val="100000"/>
              </a:lnSpc>
              <a:spcBef>
                <a:spcPts val="5"/>
              </a:spcBef>
            </a:pPr>
            <a:r>
              <a:rPr lang="en-US" spc="-10" dirty="0"/>
              <a:t>Ex.</a:t>
            </a:r>
            <a:endParaRPr spc="-10" dirty="0"/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pc="-10" dirty="0"/>
          </a:p>
          <a:p>
            <a:pPr marL="520700" indent="-508000">
              <a:lnSpc>
                <a:spcPct val="100000"/>
              </a:lnSpc>
              <a:buAutoNum type="arabicPeriod"/>
              <a:tabLst>
                <a:tab pos="520700" algn="l"/>
              </a:tabLst>
            </a:pPr>
            <a:r>
              <a:rPr dirty="0"/>
              <a:t>Criando</a:t>
            </a:r>
            <a:r>
              <a:rPr spc="-15" dirty="0"/>
              <a:t> </a:t>
            </a:r>
            <a:r>
              <a:rPr dirty="0"/>
              <a:t>um</a:t>
            </a:r>
            <a:r>
              <a:rPr spc="-35" dirty="0"/>
              <a:t> </a:t>
            </a:r>
            <a:r>
              <a:rPr dirty="0"/>
              <a:t>DataFrame</a:t>
            </a:r>
            <a:r>
              <a:rPr spc="-2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partir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um</a:t>
            </a:r>
            <a:r>
              <a:rPr spc="-10" dirty="0"/>
              <a:t> </a:t>
            </a:r>
            <a:r>
              <a:rPr dirty="0"/>
              <a:t>dicionário</a:t>
            </a:r>
            <a:r>
              <a:rPr spc="-45" dirty="0"/>
              <a:t> </a:t>
            </a:r>
            <a:r>
              <a:rPr dirty="0"/>
              <a:t>de</a:t>
            </a:r>
            <a:r>
              <a:rPr spc="-10" dirty="0"/>
              <a:t> listas</a:t>
            </a:r>
          </a:p>
          <a:p>
            <a:pPr>
              <a:lnSpc>
                <a:spcPct val="100000"/>
              </a:lnSpc>
              <a:spcBef>
                <a:spcPts val="180"/>
              </a:spcBef>
              <a:buClr>
                <a:srgbClr val="FFFFFF"/>
              </a:buClr>
              <a:buFont typeface="Arial MT"/>
              <a:buAutoNum type="arabicPeriod"/>
            </a:pPr>
            <a:endParaRPr spc="-10" dirty="0"/>
          </a:p>
          <a:p>
            <a:pPr marL="520700" indent="-508000">
              <a:lnSpc>
                <a:spcPct val="100000"/>
              </a:lnSpc>
              <a:buAutoNum type="arabicPeriod"/>
              <a:tabLst>
                <a:tab pos="520700" algn="l"/>
              </a:tabLst>
            </a:pPr>
            <a:r>
              <a:rPr dirty="0"/>
              <a:t>Definindo</a:t>
            </a:r>
            <a:r>
              <a:rPr spc="-25" dirty="0"/>
              <a:t> </a:t>
            </a:r>
            <a:r>
              <a:rPr dirty="0"/>
              <a:t>um</a:t>
            </a:r>
            <a:r>
              <a:rPr spc="-10" dirty="0"/>
              <a:t> </a:t>
            </a:r>
            <a:r>
              <a:rPr dirty="0"/>
              <a:t>índice</a:t>
            </a:r>
            <a:r>
              <a:rPr spc="-5" dirty="0"/>
              <a:t> </a:t>
            </a:r>
            <a:r>
              <a:rPr spc="-10" dirty="0"/>
              <a:t>personalizado</a:t>
            </a:r>
          </a:p>
          <a:p>
            <a:pPr>
              <a:lnSpc>
                <a:spcPct val="100000"/>
              </a:lnSpc>
              <a:spcBef>
                <a:spcPts val="180"/>
              </a:spcBef>
              <a:buClr>
                <a:srgbClr val="FFFFFF"/>
              </a:buClr>
              <a:buFont typeface="Arial MT"/>
              <a:buAutoNum type="arabicPeriod"/>
            </a:pPr>
            <a:endParaRPr spc="-10" dirty="0"/>
          </a:p>
          <a:p>
            <a:pPr marL="520700" indent="-5080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0700" algn="l"/>
              </a:tabLst>
            </a:pPr>
            <a:r>
              <a:rPr dirty="0"/>
              <a:t>Criando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partir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uma</a:t>
            </a:r>
            <a:r>
              <a:rPr spc="-10" dirty="0"/>
              <a:t> </a:t>
            </a:r>
            <a:r>
              <a:rPr dirty="0"/>
              <a:t>lista</a:t>
            </a:r>
            <a:r>
              <a:rPr spc="-2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dicionários</a:t>
            </a: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pc="-1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5.</a:t>
            </a:r>
            <a:r>
              <a:rPr spc="-15" dirty="0"/>
              <a:t> </a:t>
            </a:r>
            <a:r>
              <a:rPr dirty="0"/>
              <a:t>Com</a:t>
            </a:r>
            <a:r>
              <a:rPr spc="-15" dirty="0"/>
              <a:t> </a:t>
            </a:r>
            <a:r>
              <a:rPr dirty="0"/>
              <a:t>uma única</a:t>
            </a:r>
            <a:r>
              <a:rPr spc="-15" dirty="0"/>
              <a:t> </a:t>
            </a:r>
            <a:r>
              <a:rPr dirty="0"/>
              <a:t>Series</a:t>
            </a:r>
            <a:r>
              <a:rPr spc="-25" dirty="0"/>
              <a:t> </a:t>
            </a:r>
            <a:r>
              <a:rPr spc="-10" dirty="0"/>
              <a:t>(coluna)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D0467-7683-C3CD-C539-2A967BA99542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6905" algn="l"/>
                <a:tab pos="5337175" algn="l"/>
                <a:tab pos="6288405" algn="l"/>
              </a:tabLst>
            </a:pPr>
            <a:r>
              <a:rPr spc="-25" dirty="0"/>
              <a:t>1.</a:t>
            </a:r>
            <a:r>
              <a:rPr dirty="0"/>
              <a:t>	</a:t>
            </a:r>
            <a:r>
              <a:rPr spc="-10" dirty="0"/>
              <a:t>Introdução</a:t>
            </a:r>
            <a:r>
              <a:rPr dirty="0"/>
              <a:t>	</a:t>
            </a:r>
            <a:r>
              <a:rPr spc="-25" dirty="0"/>
              <a:t>ao</a:t>
            </a:r>
            <a:r>
              <a:rPr dirty="0"/>
              <a:t>	</a:t>
            </a:r>
            <a:r>
              <a:rPr spc="-10" dirty="0"/>
              <a:t>Pandas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0613" y="2311145"/>
            <a:ext cx="402818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10" dirty="0" err="1">
                <a:solidFill>
                  <a:srgbClr val="FFFFFF"/>
                </a:solidFill>
                <a:latin typeface="Arial MT"/>
                <a:cs typeface="Arial MT"/>
              </a:rPr>
              <a:t>Comparativo</a:t>
            </a:r>
            <a:endParaRPr sz="36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906" y="3344926"/>
            <a:ext cx="11946001" cy="46523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5A2973-CC12-D6C3-9D7A-C92A74165B7B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59" y="733044"/>
            <a:ext cx="1765553" cy="14409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6905" algn="l"/>
                <a:tab pos="5337175" algn="l"/>
                <a:tab pos="6288405" algn="l"/>
              </a:tabLst>
            </a:pPr>
            <a:r>
              <a:rPr spc="-25" dirty="0"/>
              <a:t>1.</a:t>
            </a:r>
            <a:r>
              <a:rPr dirty="0"/>
              <a:t>	</a:t>
            </a:r>
            <a:r>
              <a:rPr spc="-10" dirty="0"/>
              <a:t>Introdução</a:t>
            </a:r>
            <a:r>
              <a:rPr dirty="0"/>
              <a:t>	</a:t>
            </a:r>
            <a:r>
              <a:rPr spc="-25" dirty="0"/>
              <a:t>ao</a:t>
            </a:r>
            <a:r>
              <a:rPr dirty="0"/>
              <a:t>	</a:t>
            </a:r>
            <a:r>
              <a:rPr spc="-10" dirty="0"/>
              <a:t>Pandas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855980" y="2300478"/>
            <a:ext cx="12142470" cy="62478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Parâmetros</a:t>
            </a:r>
            <a:r>
              <a:rPr spc="-30" dirty="0"/>
              <a:t> </a:t>
            </a:r>
            <a:r>
              <a:rPr spc="-10" dirty="0" err="1"/>
              <a:t>principais</a:t>
            </a:r>
            <a:r>
              <a:rPr spc="-10" dirty="0"/>
              <a:t>:</a:t>
            </a:r>
            <a:endParaRPr lang="en-US" spc="-10" dirty="0"/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lang="en-US" spc="-10" dirty="0"/>
          </a:p>
          <a:p>
            <a:pPr marL="767080">
              <a:lnSpc>
                <a:spcPct val="100000"/>
              </a:lnSpc>
              <a:spcBef>
                <a:spcPts val="5"/>
              </a:spcBef>
            </a:pPr>
            <a:r>
              <a:rPr lang="en-US" spc="-10" dirty="0"/>
              <a:t>Ex.</a:t>
            </a: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pc="-10" dirty="0"/>
          </a:p>
          <a:p>
            <a:pPr marL="520700" indent="-508000">
              <a:lnSpc>
                <a:spcPct val="100000"/>
              </a:lnSpc>
              <a:buAutoNum type="arabicPeriod"/>
              <a:tabLst>
                <a:tab pos="520700" algn="l"/>
              </a:tabLst>
            </a:pPr>
            <a:r>
              <a:rPr dirty="0"/>
              <a:t>Criando</a:t>
            </a:r>
            <a:r>
              <a:rPr spc="-15" dirty="0"/>
              <a:t> </a:t>
            </a:r>
            <a:r>
              <a:rPr dirty="0"/>
              <a:t>um</a:t>
            </a:r>
            <a:r>
              <a:rPr spc="-20" dirty="0"/>
              <a:t> </a:t>
            </a:r>
            <a:r>
              <a:rPr dirty="0"/>
              <a:t>DataFrame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partir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um</a:t>
            </a:r>
            <a:r>
              <a:rPr spc="-10" dirty="0"/>
              <a:t> </a:t>
            </a:r>
            <a:r>
              <a:rPr dirty="0"/>
              <a:t>dicionário</a:t>
            </a:r>
            <a:r>
              <a:rPr spc="-40" dirty="0"/>
              <a:t> </a:t>
            </a:r>
            <a:r>
              <a:rPr dirty="0"/>
              <a:t>de</a:t>
            </a:r>
            <a:r>
              <a:rPr spc="-10" dirty="0"/>
              <a:t> listas</a:t>
            </a:r>
          </a:p>
          <a:p>
            <a:pPr>
              <a:lnSpc>
                <a:spcPct val="100000"/>
              </a:lnSpc>
              <a:spcBef>
                <a:spcPts val="180"/>
              </a:spcBef>
              <a:buClr>
                <a:srgbClr val="FFFFFF"/>
              </a:buClr>
              <a:buFont typeface="Arial MT"/>
              <a:buAutoNum type="arabicPeriod"/>
            </a:pPr>
            <a:endParaRPr spc="-10" dirty="0"/>
          </a:p>
          <a:p>
            <a:pPr marL="520700" indent="-508000">
              <a:lnSpc>
                <a:spcPct val="100000"/>
              </a:lnSpc>
              <a:buAutoNum type="arabicPeriod"/>
              <a:tabLst>
                <a:tab pos="520700" algn="l"/>
              </a:tabLst>
            </a:pPr>
            <a:r>
              <a:rPr dirty="0"/>
              <a:t>Definindo</a:t>
            </a:r>
            <a:r>
              <a:rPr spc="-50" dirty="0"/>
              <a:t> </a:t>
            </a:r>
            <a:r>
              <a:rPr dirty="0"/>
              <a:t>um</a:t>
            </a:r>
            <a:r>
              <a:rPr spc="-20" dirty="0"/>
              <a:t> </a:t>
            </a:r>
            <a:r>
              <a:rPr dirty="0"/>
              <a:t>índice</a:t>
            </a:r>
            <a:r>
              <a:rPr spc="-20" dirty="0"/>
              <a:t> </a:t>
            </a:r>
            <a:r>
              <a:rPr spc="-10" dirty="0"/>
              <a:t>personalizado</a:t>
            </a:r>
          </a:p>
          <a:p>
            <a:pPr>
              <a:lnSpc>
                <a:spcPct val="100000"/>
              </a:lnSpc>
              <a:spcBef>
                <a:spcPts val="180"/>
              </a:spcBef>
              <a:buClr>
                <a:srgbClr val="FFFFFF"/>
              </a:buClr>
              <a:buFont typeface="Arial MT"/>
              <a:buAutoNum type="arabicPeriod"/>
            </a:pPr>
            <a:endParaRPr spc="-10" dirty="0"/>
          </a:p>
          <a:p>
            <a:pPr marL="520700" indent="-5080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0700" algn="l"/>
              </a:tabLst>
            </a:pPr>
            <a:r>
              <a:rPr dirty="0"/>
              <a:t>Criando</a:t>
            </a:r>
            <a:r>
              <a:rPr spc="-1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partir</a:t>
            </a:r>
            <a:r>
              <a:rPr spc="-25" dirty="0"/>
              <a:t> </a:t>
            </a:r>
            <a:r>
              <a:rPr dirty="0"/>
              <a:t>de</a:t>
            </a:r>
            <a:r>
              <a:rPr spc="-10" dirty="0"/>
              <a:t> </a:t>
            </a:r>
            <a:r>
              <a:rPr dirty="0"/>
              <a:t>uma</a:t>
            </a:r>
            <a:r>
              <a:rPr spc="-10" dirty="0"/>
              <a:t> </a:t>
            </a:r>
            <a:r>
              <a:rPr dirty="0"/>
              <a:t>lista</a:t>
            </a:r>
            <a:r>
              <a:rPr spc="-10" dirty="0"/>
              <a:t> </a:t>
            </a:r>
            <a:r>
              <a:rPr dirty="0"/>
              <a:t>de</a:t>
            </a:r>
            <a:r>
              <a:rPr spc="-10" dirty="0"/>
              <a:t> dicionários</a:t>
            </a: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pc="-1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5.</a:t>
            </a:r>
            <a:r>
              <a:rPr spc="-10" dirty="0"/>
              <a:t> </a:t>
            </a:r>
            <a:r>
              <a:rPr dirty="0"/>
              <a:t>Com</a:t>
            </a:r>
            <a:r>
              <a:rPr spc="-5" dirty="0"/>
              <a:t> </a:t>
            </a:r>
            <a:r>
              <a:rPr dirty="0"/>
              <a:t>uma</a:t>
            </a:r>
            <a:r>
              <a:rPr spc="-5" dirty="0"/>
              <a:t> </a:t>
            </a:r>
            <a:r>
              <a:rPr dirty="0"/>
              <a:t>única</a:t>
            </a:r>
            <a:r>
              <a:rPr spc="-5" dirty="0"/>
              <a:t> </a:t>
            </a:r>
            <a:r>
              <a:rPr dirty="0"/>
              <a:t>Series</a:t>
            </a:r>
            <a:r>
              <a:rPr spc="-25" dirty="0"/>
              <a:t> </a:t>
            </a:r>
            <a:r>
              <a:rPr spc="-10" dirty="0"/>
              <a:t>(coluna)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7AD41-2D7E-6983-BBAE-678E51382A90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59" y="733044"/>
            <a:ext cx="1765553" cy="14409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6905" algn="l"/>
                <a:tab pos="5337175" algn="l"/>
                <a:tab pos="6288405" algn="l"/>
              </a:tabLst>
            </a:pPr>
            <a:r>
              <a:rPr spc="-25" dirty="0"/>
              <a:t>1.</a:t>
            </a:r>
            <a:r>
              <a:rPr dirty="0"/>
              <a:t>	</a:t>
            </a:r>
            <a:r>
              <a:rPr spc="-10" dirty="0"/>
              <a:t>Introdução</a:t>
            </a:r>
            <a:r>
              <a:rPr dirty="0"/>
              <a:t>	</a:t>
            </a:r>
            <a:r>
              <a:rPr spc="-25" dirty="0"/>
              <a:t>ao</a:t>
            </a:r>
            <a:r>
              <a:rPr dirty="0"/>
              <a:t>	</a:t>
            </a:r>
            <a:r>
              <a:rPr spc="-10" dirty="0"/>
              <a:t>Pandas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6448" y="1883430"/>
            <a:ext cx="16271240" cy="71697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Atividades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36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Atividade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1: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Crie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lista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os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nomes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cinco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frutas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 transforme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essa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lista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em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Series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3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pandas.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 dirty="0">
              <a:latin typeface="Arial MT"/>
              <a:cs typeface="Arial MT"/>
            </a:endParaRPr>
          </a:p>
          <a:p>
            <a:pPr marL="12700" marR="511809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Atividade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2: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Crie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lista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valores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temperatura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longo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7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dias.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Crie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Series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dias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semana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como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índice.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600" dirty="0">
              <a:latin typeface="Arial MT"/>
              <a:cs typeface="Arial MT"/>
            </a:endParaRPr>
          </a:p>
          <a:p>
            <a:pPr marL="12700" marR="284480">
              <a:lnSpc>
                <a:spcPct val="100000"/>
              </a:lnSpc>
              <a:spcBef>
                <a:spcPts val="5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Atividade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3: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Crie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Series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usando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dicionário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onde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chaves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são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nomes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alunos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 os valores são suas notas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finais.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 dirty="0">
              <a:latin typeface="Arial MT"/>
              <a:cs typeface="Arial MT"/>
            </a:endParaRPr>
          </a:p>
          <a:p>
            <a:pPr marL="12700" marR="1834514">
              <a:lnSpc>
                <a:spcPct val="100000"/>
              </a:lnSpc>
              <a:spcBef>
                <a:spcPts val="5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Atividade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4: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Crie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Series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números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defina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índices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personalizados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em formato de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letras.</a:t>
            </a:r>
            <a:endParaRPr sz="3600" dirty="0">
              <a:latin typeface="Arial MT"/>
              <a:cs typeface="Arial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7FEE14-D54B-E64A-79E7-0463A34BA45E}"/>
              </a:ext>
            </a:extLst>
          </p:cNvPr>
          <p:cNvSpPr txBox="1"/>
          <p:nvPr/>
        </p:nvSpPr>
        <p:spPr>
          <a:xfrm>
            <a:off x="15087600" y="7277100"/>
            <a:ext cx="31242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59" y="733044"/>
            <a:ext cx="1765553" cy="14409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64717"/>
            <a:ext cx="8627745" cy="1804670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25"/>
              </a:spcBef>
              <a:tabLst>
                <a:tab pos="1906905" algn="l"/>
                <a:tab pos="5337175" algn="l"/>
                <a:tab pos="6288405" algn="l"/>
              </a:tabLst>
            </a:pPr>
            <a:r>
              <a:rPr spc="-25" dirty="0"/>
              <a:t>1.</a:t>
            </a:r>
            <a:r>
              <a:rPr dirty="0"/>
              <a:t>	</a:t>
            </a:r>
            <a:r>
              <a:rPr spc="-10" dirty="0"/>
              <a:t>Introdução</a:t>
            </a:r>
            <a:r>
              <a:rPr dirty="0"/>
              <a:t>	</a:t>
            </a:r>
            <a:r>
              <a:rPr spc="-25" dirty="0"/>
              <a:t>ao</a:t>
            </a:r>
            <a:r>
              <a:rPr dirty="0"/>
              <a:t>	</a:t>
            </a:r>
            <a:r>
              <a:rPr spc="-10" dirty="0"/>
              <a:t>Pandas</a:t>
            </a:r>
          </a:p>
          <a:p>
            <a:pPr marL="241300">
              <a:lnSpc>
                <a:spcPct val="100000"/>
              </a:lnSpc>
              <a:spcBef>
                <a:spcPts val="1285"/>
              </a:spcBef>
            </a:pPr>
            <a:r>
              <a:rPr sz="3600" dirty="0"/>
              <a:t>Atividades</a:t>
            </a:r>
            <a:r>
              <a:rPr sz="3600" spc="-50" dirty="0"/>
              <a:t> :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90864" y="2705100"/>
            <a:ext cx="13958536" cy="64915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7715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Atividade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5: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Crie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dicionário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os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dados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três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pessoas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contendo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nome,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idade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e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cidade.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esse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dicionário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criar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DataFrame.</a:t>
            </a: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32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Atividade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6: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Crie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lista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dicionários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representando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três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livros,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chaves: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"título",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"autor",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"ano".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essa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lista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sz="3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criar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DataFrame.</a:t>
            </a: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3200" dirty="0">
              <a:latin typeface="Arial MT"/>
              <a:cs typeface="Arial MT"/>
            </a:endParaRPr>
          </a:p>
          <a:p>
            <a:pPr marL="12700" marR="253365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Atividade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7: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Crie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DataFrame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partir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lista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listas.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Os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dados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devem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representar</a:t>
            </a:r>
            <a:r>
              <a:rPr sz="3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[nome,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idade]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três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pessoas.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Defina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os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nomes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das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colunas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como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"Nome"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e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"Idade".</a:t>
            </a: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3200" dirty="0">
              <a:latin typeface="Arial MT"/>
              <a:cs typeface="Arial MT"/>
            </a:endParaRPr>
          </a:p>
          <a:p>
            <a:pPr marL="12700" marR="159385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Atividade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8: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Crie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DataFrame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usando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array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NumPy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com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números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inteiros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9,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em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matriz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3x3.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Defina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os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nomes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das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colunas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como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"A",</a:t>
            </a:r>
            <a:r>
              <a:rPr sz="3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"B",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"C".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8060AF-0248-BE4A-EA07-58828FFCBD24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664717"/>
            <a:ext cx="8627745" cy="1804670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25"/>
              </a:spcBef>
              <a:tabLst>
                <a:tab pos="1906905" algn="l"/>
                <a:tab pos="5337175" algn="l"/>
                <a:tab pos="6288405" algn="l"/>
              </a:tabLst>
            </a:pPr>
            <a:r>
              <a:rPr sz="5400" spc="-25" dirty="0">
                <a:solidFill>
                  <a:srgbClr val="FFFFFF"/>
                </a:solidFill>
                <a:latin typeface="Arial MT"/>
                <a:cs typeface="Arial MT"/>
              </a:rPr>
              <a:t>1.</a:t>
            </a:r>
            <a:r>
              <a:rPr sz="54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5400" spc="-10" dirty="0">
                <a:solidFill>
                  <a:srgbClr val="FFFFFF"/>
                </a:solidFill>
                <a:latin typeface="Arial MT"/>
                <a:cs typeface="Arial MT"/>
              </a:rPr>
              <a:t>Introdução</a:t>
            </a:r>
            <a:r>
              <a:rPr sz="54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5400" spc="-25" dirty="0">
                <a:solidFill>
                  <a:srgbClr val="FFFFFF"/>
                </a:solidFill>
                <a:latin typeface="Arial MT"/>
                <a:cs typeface="Arial MT"/>
              </a:rPr>
              <a:t>ao</a:t>
            </a:r>
            <a:r>
              <a:rPr sz="54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5400" spc="-10" dirty="0">
                <a:solidFill>
                  <a:srgbClr val="FFFFFF"/>
                </a:solidFill>
                <a:latin typeface="Arial MT"/>
                <a:cs typeface="Arial MT"/>
              </a:rPr>
              <a:t>Pandas</a:t>
            </a:r>
            <a:endParaRPr sz="54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1285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Atividades</a:t>
            </a:r>
            <a:r>
              <a:rPr sz="3600" spc="-50" dirty="0">
                <a:solidFill>
                  <a:srgbClr val="FFFFFF"/>
                </a:solidFill>
                <a:latin typeface="Arial MT"/>
                <a:cs typeface="Arial MT"/>
              </a:rPr>
              <a:t> :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3003296"/>
            <a:ext cx="1506918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Atividade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9: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Crie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DataFrame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partir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um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dicionário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Series.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Cada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chave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do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dicionário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deve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representar</a:t>
            </a:r>
            <a:r>
              <a:rPr sz="3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uma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coluna.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9B40C-D7C0-0734-678C-6D34E6641F4D}"/>
              </a:ext>
            </a:extLst>
          </p:cNvPr>
          <p:cNvSpPr txBox="1"/>
          <p:nvPr/>
        </p:nvSpPr>
        <p:spPr>
          <a:xfrm>
            <a:off x="14630400" y="7277100"/>
            <a:ext cx="3581400" cy="300989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2053</Words>
  <Application>Microsoft Office PowerPoint</Application>
  <PresentationFormat>Custom</PresentationFormat>
  <Paragraphs>252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Arial MT</vt:lpstr>
      <vt:lpstr>Calibri</vt:lpstr>
      <vt:lpstr>Consolas</vt:lpstr>
      <vt:lpstr>Times New Roman</vt:lpstr>
      <vt:lpstr>Office Theme</vt:lpstr>
      <vt:lpstr>Aula 08 - pandas</vt:lpstr>
      <vt:lpstr>Utilização</vt:lpstr>
      <vt:lpstr>Geração de imagens</vt:lpstr>
      <vt:lpstr>Geração de imagens</vt:lpstr>
      <vt:lpstr>Geração de texto</vt:lpstr>
      <vt:lpstr>1. Introdução à Ciência de Dados</vt:lpstr>
      <vt:lpstr>2. O processo de ciência de dados</vt:lpstr>
      <vt:lpstr>3. Conexão com áreas do dia a dia</vt:lpstr>
      <vt:lpstr>4. Perfil do cientista de dados</vt:lpstr>
      <vt:lpstr>Ligando a Teoria à Prática:</vt:lpstr>
      <vt:lpstr>Por que usamos Python?</vt:lpstr>
      <vt:lpstr>Bibliotecas Fundamentais da Análise de Dados</vt:lpstr>
      <vt:lpstr>Bibliotecas Fundamentais da Análise de Dados</vt:lpstr>
      <vt:lpstr>Como elas se encaixam no fluxo da análise de dados</vt:lpstr>
      <vt:lpstr>Revisão antes de iniciar com as bibliotecas</vt:lpstr>
      <vt:lpstr>Revisão antes de iniciar com as bibliotecas</vt:lpstr>
      <vt:lpstr>Revisão antes de iniciar com as bibliotecas</vt:lpstr>
      <vt:lpstr>Revisão antes de iniciar com as bibliotecas</vt:lpstr>
      <vt:lpstr>Revisão antes de iniciar com as bibliotecas</vt:lpstr>
      <vt:lpstr>Revisão antes de iniciar com as bibliotecas</vt:lpstr>
      <vt:lpstr>Revisão antes de iniciar com as bibliotecas</vt:lpstr>
      <vt:lpstr>1. Introdução ao Pandas</vt:lpstr>
      <vt:lpstr>1. Introdução ao Pandas</vt:lpstr>
      <vt:lpstr>1. Introdução ao Pandas</vt:lpstr>
      <vt:lpstr>1. Introdução ao Pandas</vt:lpstr>
      <vt:lpstr>1. Introdução ao Pandas</vt:lpstr>
      <vt:lpstr>1. Introdução ao Pandas</vt:lpstr>
      <vt:lpstr>1. Introdução ao Pandas</vt:lpstr>
      <vt:lpstr>1. Introdução ao Pandas</vt:lpstr>
      <vt:lpstr>1. Introdução ao Pandas</vt:lpstr>
      <vt:lpstr>1. Introdução ao Pandas</vt:lpstr>
      <vt:lpstr>1. Introdução ao Pandas</vt:lpstr>
      <vt:lpstr>1. Introdução ao Pandas</vt:lpstr>
      <vt:lpstr>1. Introdução ao Pandas Atividades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Dionizio Porfírio</dc:creator>
  <cp:lastModifiedBy>Juvenaldo Florentino Canja</cp:lastModifiedBy>
  <cp:revision>4</cp:revision>
  <dcterms:created xsi:type="dcterms:W3CDTF">2025-10-02T14:24:29Z</dcterms:created>
  <dcterms:modified xsi:type="dcterms:W3CDTF">2025-10-02T15:57:44Z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2025-05-17T00:00:00Z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2025-10-02T00:00:00Z</vt:filetime>
  </property>
  <property fmtid="{D5CDD505-2E9C-101B-9397-08002B2CF9AE}" pid="5" name="Producer">
    <vt:lpwstr>Microsoft® PowerPoint® para Microsoft 365</vt:lpwstr>
  </property>
</Properties>
</file>